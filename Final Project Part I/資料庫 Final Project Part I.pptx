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6858000" cx="12192000"/>
  <p:notesSz cx="6858000" cy="9144000"/>
  <p:embeddedFontLst>
    <p:embeddedFont>
      <p:font typeface="Teko"/>
      <p:regular r:id="rId33"/>
      <p:bold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15020F8-6336-4854-B090-73FCE78F3F99}">
  <a:tblStyle styleId="{915020F8-6336-4854-B090-73FCE78F3F9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>
              <a:solidFill>
                <a:srgbClr val="808080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/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Teko-regular.fntdata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34" Type="http://schemas.openxmlformats.org/officeDocument/2006/relationships/font" Target="fonts/Teko-bold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e6196ca0ad_0_6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e6196ca0ad_0_6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6196ca0ad_0_3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e6196ca0ad_0_3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d883b3e11c_9_14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g3d883b3e11c_9_14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d883b3e11c_9_1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g3d883b3e11c_9_1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d883b3e11c_9_19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d883b3e11c_9_19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g3d883b3e11c_9_19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d883b3e11c_9_20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d883b3e11c_9_20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g3d883b3e11c_9_20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e60ca1fe37_3_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e60ca1fe37_3_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g3e60ca1fe37_3_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d883b3e11c_9_2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d883b3e11c_9_21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g3d883b3e11c_9_21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e60ca1fe37_3_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e60ca1fe37_3_2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e60ca1fe37_3_2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d883b3e11c_9_26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d883b3e11c_9_26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3" name="Google Shape;323;g3d883b3e11c_9_26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e60ca1fe37_3_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e60ca1fe37_3_2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g3e60ca1fe37_3_2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e60ca1fe37_3_7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e60ca1fe37_3_7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3" name="Google Shape;343;g3e60ca1fe37_3_7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e60ca1fe37_3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e60ca1fe37_3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g3e60ca1fe37_3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e60ca1fe37_3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e60ca1fe37_3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g3e60ca1fe37_3_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e60ca1fe37_3_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2" name="Google Shape;372;g3e60ca1fe37_3_5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3" name="Google Shape;373;g3e60ca1fe37_3_5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e60ca1fe37_3_5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e60ca1fe37_3_5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g3e60ca1fe37_3_5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d883b3e11c_9_29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2" name="Google Shape;392;g3d883b3e11c_9_29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" name="Google Shape;393;g3d883b3e11c_9_29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e6196ca0ad_0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e6196ca0ad_0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自定义版式">
  <p:cSld name="自定义版式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867">
              <a:solidFill>
                <a:schemeClr val="dk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幻灯片" type="title">
  <p:cSld name="TITLE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3" name="Google Shape;23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内容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节标题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两栏内容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6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比较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7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仅标题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空白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内容与标题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0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6" name="Google Shape;66;p10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7" name="Google Shape;6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图片与标题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标题和竖排文字" type="vertTx">
  <p:cSld name="VERTICAL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竖排标题与文本" type="vertTitleAndTx">
  <p:cSld name="VERTICAL_TITLE_AND_VERTICAL_TEX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3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6" name="Google Shape;86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3666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b="0" i="0" sz="4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/>
          <p:nvPr/>
        </p:nvSpPr>
        <p:spPr>
          <a:xfrm rot="5400000">
            <a:off x="1902469" y="848625"/>
            <a:ext cx="3375300" cy="3868800"/>
          </a:xfrm>
          <a:prstGeom prst="hexagon">
            <a:avLst>
              <a:gd fmla="val 24996" name="adj"/>
              <a:gd fmla="val 115470" name="vf"/>
            </a:avLst>
          </a:prstGeom>
          <a:noFill/>
          <a:ln cap="flat" cmpd="sng" w="101600">
            <a:solidFill>
              <a:srgbClr val="FF6969"/>
            </a:solidFill>
            <a:prstDash val="solid"/>
            <a:bevel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cxnSp>
        <p:nvCxnSpPr>
          <p:cNvPr id="94" name="Google Shape;94;p14"/>
          <p:cNvCxnSpPr>
            <a:stCxn id="95" idx="0"/>
          </p:cNvCxnSpPr>
          <p:nvPr/>
        </p:nvCxnSpPr>
        <p:spPr>
          <a:xfrm>
            <a:off x="3583730" y="4457325"/>
            <a:ext cx="2145300" cy="22944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96" name="Google Shape;96;p14"/>
          <p:cNvCxnSpPr/>
          <p:nvPr/>
        </p:nvCxnSpPr>
        <p:spPr>
          <a:xfrm>
            <a:off x="5832250" y="2607575"/>
            <a:ext cx="6419100" cy="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sp>
        <p:nvSpPr>
          <p:cNvPr id="95" name="Google Shape;95;p14"/>
          <p:cNvSpPr/>
          <p:nvPr/>
        </p:nvSpPr>
        <p:spPr>
          <a:xfrm rot="5400000">
            <a:off x="1909430" y="881625"/>
            <a:ext cx="3348600" cy="3802800"/>
          </a:xfrm>
          <a:prstGeom prst="hexagon">
            <a:avLst>
              <a:gd fmla="val 25000" name="adj"/>
              <a:gd fmla="val 115470" name="vf"/>
            </a:avLst>
          </a:prstGeom>
          <a:solidFill>
            <a:srgbClr val="CCCC33"/>
          </a:solidFill>
          <a:ln>
            <a:noFill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cxnSp>
        <p:nvCxnSpPr>
          <p:cNvPr id="97" name="Google Shape;97;p14"/>
          <p:cNvCxnSpPr/>
          <p:nvPr/>
        </p:nvCxnSpPr>
        <p:spPr>
          <a:xfrm flipH="1">
            <a:off x="5740502" y="0"/>
            <a:ext cx="12600" cy="68004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98" name="Google Shape;98;p14"/>
          <p:cNvCxnSpPr/>
          <p:nvPr/>
        </p:nvCxnSpPr>
        <p:spPr>
          <a:xfrm>
            <a:off x="1377951" y="-3174"/>
            <a:ext cx="2193900" cy="10986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99" name="Google Shape;99;p14"/>
          <p:cNvCxnSpPr/>
          <p:nvPr/>
        </p:nvCxnSpPr>
        <p:spPr>
          <a:xfrm>
            <a:off x="1617325" y="3694575"/>
            <a:ext cx="38400" cy="32265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100" name="Google Shape;100;p14"/>
          <p:cNvCxnSpPr>
            <a:endCxn id="95" idx="2"/>
          </p:cNvCxnSpPr>
          <p:nvPr/>
        </p:nvCxnSpPr>
        <p:spPr>
          <a:xfrm flipH="1" rot="10800000">
            <a:off x="11931" y="1945875"/>
            <a:ext cx="1670400" cy="8982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sp>
        <p:nvSpPr>
          <p:cNvPr id="101" name="Google Shape;101;p14"/>
          <p:cNvSpPr/>
          <p:nvPr/>
        </p:nvSpPr>
        <p:spPr>
          <a:xfrm>
            <a:off x="6396550" y="2941450"/>
            <a:ext cx="5290500" cy="3170700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班級:四資工三甲</a:t>
            </a:r>
            <a:endParaRPr b="1"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組員: 41243101 伍翊瑄</a:t>
            </a:r>
            <a:endParaRPr b="1"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    41243103 林采儀</a:t>
            </a:r>
            <a:endParaRPr b="1"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    41243104 范芷紜</a:t>
            </a:r>
            <a:endParaRPr b="1"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l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    41243107 潘怡潔</a:t>
            </a:r>
            <a:endParaRPr b="1"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ctr">
              <a:lnSpc>
                <a:spcPct val="115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3100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  <a:p>
            <a:pPr indent="0" lvl="0" marL="0" rtl="0" algn="ctr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SzPts val="1100"/>
              <a:buNone/>
            </a:pPr>
            <a:r>
              <a:t/>
            </a:r>
            <a:endParaRPr b="1" sz="3100">
              <a:solidFill>
                <a:schemeClr val="lt1"/>
              </a:solidFill>
              <a:latin typeface="Microsoft JhengHei"/>
              <a:ea typeface="Microsoft JhengHei"/>
              <a:cs typeface="Microsoft JhengHei"/>
              <a:sym typeface="Microsoft JhengHei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2091050" y="2141362"/>
            <a:ext cx="3174300" cy="14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第3組</a:t>
            </a:r>
            <a:endParaRPr sz="9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03" name="Google Shape;103;p14"/>
          <p:cNvSpPr/>
          <p:nvPr/>
        </p:nvSpPr>
        <p:spPr>
          <a:xfrm>
            <a:off x="6455925" y="1760475"/>
            <a:ext cx="5290500" cy="749100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49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教室借用管理系統</a:t>
            </a:r>
            <a:endParaRPr b="1" sz="55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04" name="Google Shape;104;p14"/>
          <p:cNvSpPr txBox="1"/>
          <p:nvPr>
            <p:ph idx="12" type="sldNum"/>
          </p:nvPr>
        </p:nvSpPr>
        <p:spPr>
          <a:xfrm>
            <a:off x="11530800" y="6338325"/>
            <a:ext cx="4398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rgbClr val="FFFFFF"/>
                </a:solidFill>
              </a:rPr>
              <a:t>‹#›</a:t>
            </a:fld>
            <a:endParaRPr sz="18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5"/>
          <p:cNvSpPr txBox="1"/>
          <p:nvPr/>
        </p:nvSpPr>
        <p:spPr>
          <a:xfrm>
            <a:off x="858873" y="508037"/>
            <a:ext cx="3693000" cy="9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867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目錄</a:t>
            </a:r>
            <a:endParaRPr sz="58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cxnSp>
        <p:nvCxnSpPr>
          <p:cNvPr id="110" name="Google Shape;110;p15"/>
          <p:cNvCxnSpPr/>
          <p:nvPr/>
        </p:nvCxnSpPr>
        <p:spPr>
          <a:xfrm>
            <a:off x="732103" y="574445"/>
            <a:ext cx="0" cy="792000"/>
          </a:xfrm>
          <a:prstGeom prst="straightConnector1">
            <a:avLst/>
          </a:prstGeom>
          <a:noFill/>
          <a:ln cap="flat" cmpd="sng" w="76200">
            <a:solidFill>
              <a:srgbClr val="CCCC33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cxnSp>
      <p:grpSp>
        <p:nvGrpSpPr>
          <p:cNvPr id="111" name="Google Shape;111;p15"/>
          <p:cNvGrpSpPr/>
          <p:nvPr/>
        </p:nvGrpSpPr>
        <p:grpSpPr>
          <a:xfrm>
            <a:off x="2018579" y="1942374"/>
            <a:ext cx="930550" cy="996731"/>
            <a:chOff x="1551857" y="1995687"/>
            <a:chExt cx="697930" cy="747567"/>
          </a:xfrm>
        </p:grpSpPr>
        <p:grpSp>
          <p:nvGrpSpPr>
            <p:cNvPr id="112" name="Google Shape;112;p15"/>
            <p:cNvGrpSpPr/>
            <p:nvPr/>
          </p:nvGrpSpPr>
          <p:grpSpPr>
            <a:xfrm>
              <a:off x="1551857" y="1995687"/>
              <a:ext cx="644418" cy="747567"/>
              <a:chOff x="1551857" y="1995687"/>
              <a:chExt cx="644418" cy="747567"/>
            </a:xfrm>
          </p:grpSpPr>
          <p:sp>
            <p:nvSpPr>
              <p:cNvPr id="113" name="Google Shape;113;p15"/>
              <p:cNvSpPr/>
              <p:nvPr/>
            </p:nvSpPr>
            <p:spPr>
              <a:xfrm rot="5400000">
                <a:off x="1687174" y="2234153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FF6969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  <p:sp>
            <p:nvSpPr>
              <p:cNvPr id="114" name="Google Shape;114;p15"/>
              <p:cNvSpPr/>
              <p:nvPr/>
            </p:nvSpPr>
            <p:spPr>
              <a:xfrm flipH="1" rot="5400000">
                <a:off x="1687174" y="1860369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CCCC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</p:grpSp>
        <p:sp>
          <p:nvSpPr>
            <p:cNvPr id="115" name="Google Shape;115;p15"/>
            <p:cNvSpPr/>
            <p:nvPr/>
          </p:nvSpPr>
          <p:spPr>
            <a:xfrm>
              <a:off x="1605386" y="2069601"/>
              <a:ext cx="644400" cy="623100"/>
            </a:xfrm>
            <a:prstGeom prst="rect">
              <a:avLst/>
            </a:prstGeom>
            <a:noFill/>
            <a:ln>
              <a:noFill/>
            </a:ln>
            <a:effectLst>
              <a:outerShdw blurRad="50800" rotWithShape="0" algn="tl" dir="2700000" dist="38100">
                <a:srgbClr val="000000">
                  <a:alpha val="40000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01</a:t>
              </a:r>
              <a:endParaRPr sz="4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grpSp>
        <p:nvGrpSpPr>
          <p:cNvPr id="116" name="Google Shape;116;p15"/>
          <p:cNvGrpSpPr/>
          <p:nvPr/>
        </p:nvGrpSpPr>
        <p:grpSpPr>
          <a:xfrm>
            <a:off x="4215986" y="3031664"/>
            <a:ext cx="884520" cy="996731"/>
            <a:chOff x="3374512" y="2011991"/>
            <a:chExt cx="663407" cy="747567"/>
          </a:xfrm>
        </p:grpSpPr>
        <p:grpSp>
          <p:nvGrpSpPr>
            <p:cNvPr id="117" name="Google Shape;117;p15"/>
            <p:cNvGrpSpPr/>
            <p:nvPr/>
          </p:nvGrpSpPr>
          <p:grpSpPr>
            <a:xfrm>
              <a:off x="3374512" y="2011991"/>
              <a:ext cx="644418" cy="747567"/>
              <a:chOff x="1551857" y="1995687"/>
              <a:chExt cx="644418" cy="747567"/>
            </a:xfrm>
          </p:grpSpPr>
          <p:sp>
            <p:nvSpPr>
              <p:cNvPr id="118" name="Google Shape;118;p15"/>
              <p:cNvSpPr/>
              <p:nvPr/>
            </p:nvSpPr>
            <p:spPr>
              <a:xfrm rot="5400000">
                <a:off x="1687174" y="2234153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FF6969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  <p:sp>
            <p:nvSpPr>
              <p:cNvPr id="119" name="Google Shape;119;p15"/>
              <p:cNvSpPr/>
              <p:nvPr/>
            </p:nvSpPr>
            <p:spPr>
              <a:xfrm flipH="1" rot="5400000">
                <a:off x="1687174" y="1860369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CCCC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</p:grpSp>
        <p:sp>
          <p:nvSpPr>
            <p:cNvPr id="120" name="Google Shape;120;p15"/>
            <p:cNvSpPr/>
            <p:nvPr/>
          </p:nvSpPr>
          <p:spPr>
            <a:xfrm>
              <a:off x="3393518" y="2058322"/>
              <a:ext cx="644400" cy="623100"/>
            </a:xfrm>
            <a:prstGeom prst="rect">
              <a:avLst/>
            </a:prstGeom>
            <a:noFill/>
            <a:ln>
              <a:noFill/>
            </a:ln>
            <a:effectLst>
              <a:outerShdw blurRad="50800" rotWithShape="0" algn="tl" dir="2700000" dist="38100">
                <a:srgbClr val="000000">
                  <a:alpha val="40000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02</a:t>
              </a:r>
              <a:endParaRPr sz="4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grpSp>
        <p:nvGrpSpPr>
          <p:cNvPr id="121" name="Google Shape;121;p15"/>
          <p:cNvGrpSpPr/>
          <p:nvPr/>
        </p:nvGrpSpPr>
        <p:grpSpPr>
          <a:xfrm>
            <a:off x="6282253" y="4028399"/>
            <a:ext cx="859203" cy="996731"/>
            <a:chOff x="5258425" y="1995687"/>
            <a:chExt cx="644418" cy="747567"/>
          </a:xfrm>
        </p:grpSpPr>
        <p:grpSp>
          <p:nvGrpSpPr>
            <p:cNvPr id="122" name="Google Shape;122;p15"/>
            <p:cNvGrpSpPr/>
            <p:nvPr/>
          </p:nvGrpSpPr>
          <p:grpSpPr>
            <a:xfrm>
              <a:off x="5258425" y="1995687"/>
              <a:ext cx="644418" cy="747567"/>
              <a:chOff x="1551857" y="1995687"/>
              <a:chExt cx="644418" cy="747567"/>
            </a:xfrm>
          </p:grpSpPr>
          <p:sp>
            <p:nvSpPr>
              <p:cNvPr id="123" name="Google Shape;123;p15"/>
              <p:cNvSpPr/>
              <p:nvPr/>
            </p:nvSpPr>
            <p:spPr>
              <a:xfrm rot="5400000">
                <a:off x="1687174" y="2234153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FF6969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  <p:sp>
            <p:nvSpPr>
              <p:cNvPr id="124" name="Google Shape;124;p15"/>
              <p:cNvSpPr/>
              <p:nvPr/>
            </p:nvSpPr>
            <p:spPr>
              <a:xfrm flipH="1" rot="5400000">
                <a:off x="1687174" y="1860369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CCCC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</p:grpSp>
        <p:sp>
          <p:nvSpPr>
            <p:cNvPr id="125" name="Google Shape;125;p15"/>
            <p:cNvSpPr/>
            <p:nvPr/>
          </p:nvSpPr>
          <p:spPr>
            <a:xfrm>
              <a:off x="5258431" y="2057789"/>
              <a:ext cx="644400" cy="623100"/>
            </a:xfrm>
            <a:prstGeom prst="rect">
              <a:avLst/>
            </a:prstGeom>
            <a:noFill/>
            <a:ln>
              <a:noFill/>
            </a:ln>
            <a:effectLst>
              <a:outerShdw blurRad="50800" rotWithShape="0" algn="tl" dir="2700000" dist="38100">
                <a:srgbClr val="000000">
                  <a:alpha val="40000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03</a:t>
              </a:r>
              <a:endParaRPr sz="4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grpSp>
        <p:nvGrpSpPr>
          <p:cNvPr id="126" name="Google Shape;126;p15"/>
          <p:cNvGrpSpPr/>
          <p:nvPr/>
        </p:nvGrpSpPr>
        <p:grpSpPr>
          <a:xfrm>
            <a:off x="8292607" y="5129229"/>
            <a:ext cx="913770" cy="996731"/>
            <a:chOff x="6881613" y="1995687"/>
            <a:chExt cx="685345" cy="747567"/>
          </a:xfrm>
        </p:grpSpPr>
        <p:grpSp>
          <p:nvGrpSpPr>
            <p:cNvPr id="127" name="Google Shape;127;p15"/>
            <p:cNvGrpSpPr/>
            <p:nvPr/>
          </p:nvGrpSpPr>
          <p:grpSpPr>
            <a:xfrm>
              <a:off x="6881613" y="1995687"/>
              <a:ext cx="644418" cy="747567"/>
              <a:chOff x="1551857" y="1995687"/>
              <a:chExt cx="644418" cy="747567"/>
            </a:xfrm>
          </p:grpSpPr>
          <p:sp>
            <p:nvSpPr>
              <p:cNvPr id="128" name="Google Shape;128;p15"/>
              <p:cNvSpPr/>
              <p:nvPr/>
            </p:nvSpPr>
            <p:spPr>
              <a:xfrm rot="5400000">
                <a:off x="1687174" y="2234153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FF6969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  <p:sp>
            <p:nvSpPr>
              <p:cNvPr id="129" name="Google Shape;129;p15"/>
              <p:cNvSpPr/>
              <p:nvPr/>
            </p:nvSpPr>
            <p:spPr>
              <a:xfrm flipH="1" rot="5400000">
                <a:off x="1687174" y="1860369"/>
                <a:ext cx="373783" cy="644418"/>
              </a:xfrm>
              <a:custGeom>
                <a:rect b="b" l="l" r="r" t="t"/>
                <a:pathLst>
                  <a:path extrusionOk="0" h="644418" w="373783">
                    <a:moveTo>
                      <a:pt x="0" y="644418"/>
                    </a:moveTo>
                    <a:lnTo>
                      <a:pt x="0" y="0"/>
                    </a:lnTo>
                    <a:lnTo>
                      <a:pt x="212679" y="0"/>
                    </a:lnTo>
                    <a:lnTo>
                      <a:pt x="373783" y="322209"/>
                    </a:lnTo>
                    <a:lnTo>
                      <a:pt x="212679" y="644418"/>
                    </a:lnTo>
                    <a:close/>
                  </a:path>
                </a:pathLst>
              </a:custGeom>
              <a:solidFill>
                <a:srgbClr val="CCCC33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2400">
                  <a:solidFill>
                    <a:srgbClr val="FFFFFF"/>
                  </a:solidFill>
                  <a:latin typeface="SimSun"/>
                  <a:ea typeface="SimSun"/>
                  <a:cs typeface="SimSun"/>
                  <a:sym typeface="SimSun"/>
                </a:endParaRPr>
              </a:p>
            </p:txBody>
          </p:sp>
        </p:grpSp>
        <p:sp>
          <p:nvSpPr>
            <p:cNvPr id="130" name="Google Shape;130;p15"/>
            <p:cNvSpPr/>
            <p:nvPr/>
          </p:nvSpPr>
          <p:spPr>
            <a:xfrm>
              <a:off x="6903657" y="2038781"/>
              <a:ext cx="663300" cy="623100"/>
            </a:xfrm>
            <a:prstGeom prst="rect">
              <a:avLst/>
            </a:prstGeom>
            <a:noFill/>
            <a:ln>
              <a:noFill/>
            </a:ln>
            <a:effectLst>
              <a:outerShdw blurRad="50800" rotWithShape="0" algn="tl" dir="2700000" dist="38100">
                <a:srgbClr val="000000">
                  <a:alpha val="40000"/>
                </a:srgbClr>
              </a:outerShdw>
            </a:effectLst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8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04</a:t>
              </a:r>
              <a:endParaRPr sz="4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131" name="Google Shape;131;p15"/>
          <p:cNvSpPr txBox="1"/>
          <p:nvPr/>
        </p:nvSpPr>
        <p:spPr>
          <a:xfrm>
            <a:off x="3053816" y="2225487"/>
            <a:ext cx="3659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應用情境與使用案例</a:t>
            </a:r>
            <a:endParaRPr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5367080" y="3285019"/>
            <a:ext cx="3659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系統需求說明</a:t>
            </a:r>
            <a:endParaRPr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33" name="Google Shape;133;p15"/>
          <p:cNvSpPr txBox="1"/>
          <p:nvPr/>
        </p:nvSpPr>
        <p:spPr>
          <a:xfrm>
            <a:off x="7263769" y="4340445"/>
            <a:ext cx="3659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完整性限制</a:t>
            </a:r>
            <a:endParaRPr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34" name="Google Shape;134;p15"/>
          <p:cNvSpPr txBox="1"/>
          <p:nvPr/>
        </p:nvSpPr>
        <p:spPr>
          <a:xfrm>
            <a:off x="9494500" y="5395839"/>
            <a:ext cx="3659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ER Diagram</a:t>
            </a:r>
            <a:endParaRPr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35" name="Google Shape;135;p15"/>
          <p:cNvSpPr/>
          <p:nvPr/>
        </p:nvSpPr>
        <p:spPr>
          <a:xfrm rot="5400000">
            <a:off x="-490722" y="695262"/>
            <a:ext cx="1410020" cy="530175"/>
          </a:xfrm>
          <a:custGeom>
            <a:rect b="b" l="l" r="r" t="t"/>
            <a:pathLst>
              <a:path extrusionOk="0" h="427733" w="1057515">
                <a:moveTo>
                  <a:pt x="0" y="413633"/>
                </a:moveTo>
                <a:lnTo>
                  <a:pt x="206816" y="0"/>
                </a:lnTo>
                <a:lnTo>
                  <a:pt x="843648" y="0"/>
                </a:lnTo>
                <a:lnTo>
                  <a:pt x="1057515" y="427733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cxnSp>
        <p:nvCxnSpPr>
          <p:cNvPr id="136" name="Google Shape;136;p15"/>
          <p:cNvCxnSpPr/>
          <p:nvPr/>
        </p:nvCxnSpPr>
        <p:spPr>
          <a:xfrm rot="10800000">
            <a:off x="2435884" y="3226420"/>
            <a:ext cx="0" cy="3634755"/>
          </a:xfrm>
          <a:prstGeom prst="straightConnector1">
            <a:avLst/>
          </a:prstGeom>
          <a:noFill/>
          <a:ln cap="flat" cmpd="sng" w="9525">
            <a:solidFill>
              <a:srgbClr val="CCCC33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137" name="Google Shape;137;p15"/>
          <p:cNvCxnSpPr/>
          <p:nvPr/>
        </p:nvCxnSpPr>
        <p:spPr>
          <a:xfrm rot="10800000">
            <a:off x="4621350" y="4330500"/>
            <a:ext cx="0" cy="2527500"/>
          </a:xfrm>
          <a:prstGeom prst="straightConnector1">
            <a:avLst/>
          </a:prstGeom>
          <a:noFill/>
          <a:ln cap="flat" cmpd="sng" w="9525">
            <a:solidFill>
              <a:srgbClr val="CCCC33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138" name="Google Shape;138;p15"/>
          <p:cNvCxnSpPr/>
          <p:nvPr/>
        </p:nvCxnSpPr>
        <p:spPr>
          <a:xfrm rot="10800000">
            <a:off x="6712041" y="5306450"/>
            <a:ext cx="0" cy="1497900"/>
          </a:xfrm>
          <a:prstGeom prst="straightConnector1">
            <a:avLst/>
          </a:prstGeom>
          <a:noFill/>
          <a:ln cap="flat" cmpd="sng" w="9525">
            <a:solidFill>
              <a:srgbClr val="CCCC33"/>
            </a:solidFill>
            <a:prstDash val="solid"/>
            <a:miter lim="800000"/>
            <a:headEnd len="sm" w="sm" type="none"/>
            <a:tailEnd len="med" w="med" type="oval"/>
          </a:ln>
        </p:spPr>
      </p:cxnSp>
      <p:cxnSp>
        <p:nvCxnSpPr>
          <p:cNvPr id="139" name="Google Shape;139;p15"/>
          <p:cNvCxnSpPr/>
          <p:nvPr/>
        </p:nvCxnSpPr>
        <p:spPr>
          <a:xfrm rot="10800000">
            <a:off x="8706483" y="6402301"/>
            <a:ext cx="0" cy="455700"/>
          </a:xfrm>
          <a:prstGeom prst="straightConnector1">
            <a:avLst/>
          </a:prstGeom>
          <a:noFill/>
          <a:ln cap="flat" cmpd="sng" w="9525">
            <a:solidFill>
              <a:srgbClr val="CCCC33"/>
            </a:solidFill>
            <a:prstDash val="solid"/>
            <a:miter lim="800000"/>
            <a:headEnd len="sm" w="sm" type="none"/>
            <a:tailEnd len="med" w="med" type="oval"/>
          </a:ln>
        </p:spPr>
      </p:cxnSp>
      <p:sp>
        <p:nvSpPr>
          <p:cNvPr id="140" name="Google Shape;140;p15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6"/>
          <p:cNvSpPr/>
          <p:nvPr/>
        </p:nvSpPr>
        <p:spPr>
          <a:xfrm rot="10800000">
            <a:off x="1782764" y="0"/>
            <a:ext cx="3582987" cy="1990725"/>
          </a:xfrm>
          <a:custGeom>
            <a:rect b="b" l="l" r="r" t="t"/>
            <a:pathLst>
              <a:path extrusionOk="0" h="1991022" w="3582460">
                <a:moveTo>
                  <a:pt x="3327242" y="1991022"/>
                </a:moveTo>
                <a:lnTo>
                  <a:pt x="255219" y="1991022"/>
                </a:lnTo>
                <a:lnTo>
                  <a:pt x="0" y="1544164"/>
                </a:lnTo>
                <a:lnTo>
                  <a:pt x="881934" y="0"/>
                </a:lnTo>
                <a:lnTo>
                  <a:pt x="2700526" y="0"/>
                </a:lnTo>
                <a:lnTo>
                  <a:pt x="3582460" y="1544164"/>
                </a:lnTo>
                <a:lnTo>
                  <a:pt x="3327242" y="1991022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16"/>
          <p:cNvSpPr/>
          <p:nvPr/>
        </p:nvSpPr>
        <p:spPr>
          <a:xfrm rot="10800000">
            <a:off x="1" y="1990725"/>
            <a:ext cx="2484439" cy="3089275"/>
          </a:xfrm>
          <a:custGeom>
            <a:rect b="b" l="l" r="r" t="t"/>
            <a:pathLst>
              <a:path extrusionOk="0" h="3088328" w="2483870">
                <a:moveTo>
                  <a:pt x="2483870" y="3088328"/>
                </a:moveTo>
                <a:lnTo>
                  <a:pt x="881934" y="3088328"/>
                </a:lnTo>
                <a:lnTo>
                  <a:pt x="0" y="1544164"/>
                </a:lnTo>
                <a:lnTo>
                  <a:pt x="881934" y="0"/>
                </a:lnTo>
                <a:lnTo>
                  <a:pt x="2483870" y="0"/>
                </a:lnTo>
                <a:lnTo>
                  <a:pt x="2483870" y="3088328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16"/>
          <p:cNvSpPr/>
          <p:nvPr/>
        </p:nvSpPr>
        <p:spPr>
          <a:xfrm rot="10800000">
            <a:off x="2064288" y="4155082"/>
            <a:ext cx="4711161" cy="2702918"/>
          </a:xfrm>
          <a:custGeom>
            <a:rect b="b" l="l" r="r" t="t"/>
            <a:pathLst>
              <a:path extrusionOk="0" h="2702918" w="4711161">
                <a:moveTo>
                  <a:pt x="3551362" y="2702918"/>
                </a:moveTo>
                <a:lnTo>
                  <a:pt x="1159799" y="2702918"/>
                </a:lnTo>
                <a:lnTo>
                  <a:pt x="0" y="672245"/>
                </a:lnTo>
                <a:lnTo>
                  <a:pt x="383946" y="0"/>
                </a:lnTo>
                <a:lnTo>
                  <a:pt x="4327215" y="0"/>
                </a:lnTo>
                <a:lnTo>
                  <a:pt x="4711161" y="672245"/>
                </a:lnTo>
                <a:lnTo>
                  <a:pt x="3551362" y="2702918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3311200" y="4177988"/>
            <a:ext cx="24846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666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01</a:t>
            </a:r>
            <a:endParaRPr sz="16666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6974325" y="2851250"/>
            <a:ext cx="5488500" cy="6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53250" lIns="106525" spcFirstLastPara="1" rIns="106525" wrap="square" tIns="532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29">
                <a:solidFill>
                  <a:srgbClr val="000000"/>
                </a:solidFill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lang="en-US" sz="3729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應用情境與使用案例</a:t>
            </a:r>
            <a:endParaRPr sz="3729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729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cxnSp>
        <p:nvCxnSpPr>
          <p:cNvPr id="150" name="Google Shape;150;p16"/>
          <p:cNvCxnSpPr/>
          <p:nvPr/>
        </p:nvCxnSpPr>
        <p:spPr>
          <a:xfrm rot="10800000">
            <a:off x="7159863" y="3532550"/>
            <a:ext cx="4957500" cy="11700"/>
          </a:xfrm>
          <a:prstGeom prst="straightConnector1">
            <a:avLst/>
          </a:prstGeom>
          <a:noFill/>
          <a:ln cap="flat" cmpd="sng" w="14800">
            <a:solidFill>
              <a:srgbClr val="CCCC33"/>
            </a:solidFill>
            <a:prstDash val="solid"/>
            <a:bevel/>
            <a:headEnd len="med" w="med" type="none"/>
            <a:tailEnd len="med" w="med" type="none"/>
          </a:ln>
        </p:spPr>
      </p:cxnSp>
      <p:sp>
        <p:nvSpPr>
          <p:cNvPr id="151" name="Google Shape;151;p16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7"/>
          <p:cNvSpPr/>
          <p:nvPr/>
        </p:nvSpPr>
        <p:spPr>
          <a:xfrm>
            <a:off x="282100" y="3515400"/>
            <a:ext cx="3868800" cy="28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需要進行小組討論、專題製作或活動練習時，可透過系統查詢教室空閒時</a:t>
            </a: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段</a:t>
            </a: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，並提出借用申請，經審核通過後即可使用，避免找不到空間或人工登記錯誤的問題。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-7081" y="193293"/>
            <a:ext cx="396000" cy="672075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7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17"/>
          <p:cNvSpPr/>
          <p:nvPr/>
        </p:nvSpPr>
        <p:spPr>
          <a:xfrm>
            <a:off x="393500" y="249643"/>
            <a:ext cx="486203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lang="en-US" sz="4029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應用情境</a:t>
            </a:r>
            <a:endParaRPr sz="1700"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159" name="Google Shape;159;p17"/>
          <p:cNvGrpSpPr/>
          <p:nvPr/>
        </p:nvGrpSpPr>
        <p:grpSpPr>
          <a:xfrm>
            <a:off x="1253925" y="1390025"/>
            <a:ext cx="1925152" cy="1861153"/>
            <a:chOff x="3157541" y="1595618"/>
            <a:chExt cx="1443900" cy="1395900"/>
          </a:xfrm>
        </p:grpSpPr>
        <p:sp>
          <p:nvSpPr>
            <p:cNvPr id="160" name="Google Shape;160;p17"/>
            <p:cNvSpPr/>
            <p:nvPr/>
          </p:nvSpPr>
          <p:spPr>
            <a:xfrm>
              <a:off x="3157541" y="1595618"/>
              <a:ext cx="1443900" cy="1395900"/>
            </a:xfrm>
            <a:prstGeom prst="ellipse">
              <a:avLst/>
            </a:prstGeom>
            <a:solidFill>
              <a:srgbClr val="CCCC33"/>
            </a:solidFill>
            <a:ln cap="flat" cmpd="sng" w="28575">
              <a:solidFill>
                <a:schemeClr val="lt1"/>
              </a:solidFill>
              <a:prstDash val="solid"/>
              <a:bevel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700">
                <a:solidFill>
                  <a:srgbClr val="FFFFFF"/>
                </a:solidFill>
                <a:latin typeface="SimSun"/>
                <a:ea typeface="SimSun"/>
                <a:cs typeface="SimSun"/>
                <a:sym typeface="SimSun"/>
              </a:endParaRPr>
            </a:p>
          </p:txBody>
        </p:sp>
        <p:sp>
          <p:nvSpPr>
            <p:cNvPr id="161" name="Google Shape;161;p17"/>
            <p:cNvSpPr/>
            <p:nvPr/>
          </p:nvSpPr>
          <p:spPr>
            <a:xfrm>
              <a:off x="3157541" y="2111968"/>
              <a:ext cx="1443900" cy="43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學</a:t>
              </a: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生</a:t>
              </a:r>
              <a:endParaRPr b="1" sz="3300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162" name="Google Shape;162;p17"/>
          <p:cNvSpPr/>
          <p:nvPr/>
        </p:nvSpPr>
        <p:spPr>
          <a:xfrm>
            <a:off x="8041100" y="3515400"/>
            <a:ext cx="3868800" cy="28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負責審核所有教室借用申請，確認借用時間與用途是否合理，並管理教室使用狀態與借用紀錄，進行教室資源調度。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163" name="Google Shape;163;p17"/>
          <p:cNvGrpSpPr/>
          <p:nvPr/>
        </p:nvGrpSpPr>
        <p:grpSpPr>
          <a:xfrm>
            <a:off x="5133425" y="1390025"/>
            <a:ext cx="1925152" cy="1861153"/>
            <a:chOff x="3157541" y="1595618"/>
            <a:chExt cx="1443900" cy="1395900"/>
          </a:xfrm>
        </p:grpSpPr>
        <p:sp>
          <p:nvSpPr>
            <p:cNvPr id="164" name="Google Shape;164;p17"/>
            <p:cNvSpPr/>
            <p:nvPr/>
          </p:nvSpPr>
          <p:spPr>
            <a:xfrm>
              <a:off x="3157541" y="1595618"/>
              <a:ext cx="1443900" cy="1395900"/>
            </a:xfrm>
            <a:prstGeom prst="ellipse">
              <a:avLst/>
            </a:prstGeom>
            <a:solidFill>
              <a:srgbClr val="CCCC33"/>
            </a:solidFill>
            <a:ln cap="flat" cmpd="sng" w="28575">
              <a:solidFill>
                <a:schemeClr val="lt1"/>
              </a:solidFill>
              <a:prstDash val="solid"/>
              <a:bevel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700">
                <a:solidFill>
                  <a:srgbClr val="FFFFFF"/>
                </a:solidFill>
                <a:latin typeface="SimSun"/>
                <a:ea typeface="SimSun"/>
                <a:cs typeface="SimSun"/>
                <a:sym typeface="SimSun"/>
              </a:endParaRPr>
            </a:p>
          </p:txBody>
        </p:sp>
        <p:sp>
          <p:nvSpPr>
            <p:cNvPr id="165" name="Google Shape;165;p17"/>
            <p:cNvSpPr/>
            <p:nvPr/>
          </p:nvSpPr>
          <p:spPr>
            <a:xfrm>
              <a:off x="3157541" y="2111968"/>
              <a:ext cx="1443900" cy="43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老師</a:t>
              </a:r>
              <a:endParaRPr b="1" sz="3300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166" name="Google Shape;166;p17"/>
          <p:cNvSpPr/>
          <p:nvPr/>
        </p:nvSpPr>
        <p:spPr>
          <a:xfrm>
            <a:off x="4172300" y="3515400"/>
            <a:ext cx="3868800" cy="284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需要進行補課、課程延伸討論或舉辦小型教學活動時，可透過系統即時查詢教室使用狀態，並線上申請借用教室，以確保教學活動順利進行且不與其他課程衝突。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167" name="Google Shape;167;p17"/>
          <p:cNvGrpSpPr/>
          <p:nvPr/>
        </p:nvGrpSpPr>
        <p:grpSpPr>
          <a:xfrm>
            <a:off x="9012925" y="1390025"/>
            <a:ext cx="1925152" cy="1861153"/>
            <a:chOff x="3157541" y="1595618"/>
            <a:chExt cx="1443900" cy="1395900"/>
          </a:xfrm>
        </p:grpSpPr>
        <p:sp>
          <p:nvSpPr>
            <p:cNvPr id="168" name="Google Shape;168;p17"/>
            <p:cNvSpPr/>
            <p:nvPr/>
          </p:nvSpPr>
          <p:spPr>
            <a:xfrm>
              <a:off x="3157541" y="1595618"/>
              <a:ext cx="1443900" cy="1395900"/>
            </a:xfrm>
            <a:prstGeom prst="ellipse">
              <a:avLst/>
            </a:prstGeom>
            <a:solidFill>
              <a:srgbClr val="CCCC33"/>
            </a:solidFill>
            <a:ln cap="flat" cmpd="sng" w="28575">
              <a:solidFill>
                <a:schemeClr val="lt1"/>
              </a:solidFill>
              <a:prstDash val="solid"/>
              <a:bevel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700">
                <a:solidFill>
                  <a:srgbClr val="FFFFFF"/>
                </a:solidFill>
                <a:latin typeface="SimSun"/>
                <a:ea typeface="SimSun"/>
                <a:cs typeface="SimSun"/>
                <a:sym typeface="SimSun"/>
              </a:endParaRPr>
            </a:p>
          </p:txBody>
        </p:sp>
        <p:sp>
          <p:nvSpPr>
            <p:cNvPr id="169" name="Google Shape;169;p17"/>
            <p:cNvSpPr/>
            <p:nvPr/>
          </p:nvSpPr>
          <p:spPr>
            <a:xfrm>
              <a:off x="3157541" y="2111968"/>
              <a:ext cx="1443900" cy="43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管</a:t>
              </a: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理者</a:t>
              </a:r>
              <a:endParaRPr b="1" sz="3300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170" name="Google Shape;170;p17"/>
          <p:cNvSpPr txBox="1"/>
          <p:nvPr>
            <p:ph idx="12" type="sldNum"/>
          </p:nvPr>
        </p:nvSpPr>
        <p:spPr>
          <a:xfrm>
            <a:off x="9230300" y="6335677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8"/>
          <p:cNvSpPr/>
          <p:nvPr/>
        </p:nvSpPr>
        <p:spPr>
          <a:xfrm>
            <a:off x="173925" y="1229150"/>
            <a:ext cx="4010805" cy="6314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18"/>
          <p:cNvSpPr/>
          <p:nvPr/>
        </p:nvSpPr>
        <p:spPr>
          <a:xfrm flipH="1">
            <a:off x="8089112" y="1229150"/>
            <a:ext cx="3784388" cy="6314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18"/>
          <p:cNvSpPr/>
          <p:nvPr/>
        </p:nvSpPr>
        <p:spPr>
          <a:xfrm flipH="1" rot="10800000">
            <a:off x="173925" y="4085400"/>
            <a:ext cx="3784388" cy="6314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18"/>
          <p:cNvSpPr/>
          <p:nvPr/>
        </p:nvSpPr>
        <p:spPr>
          <a:xfrm rot="10800000">
            <a:off x="8275602" y="4085400"/>
            <a:ext cx="3719698" cy="6314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-7081" y="193293"/>
            <a:ext cx="396000" cy="672000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18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  <p:sp>
        <p:nvSpPr>
          <p:cNvPr id="181" name="Google Shape;181;p18"/>
          <p:cNvSpPr/>
          <p:nvPr/>
        </p:nvSpPr>
        <p:spPr>
          <a:xfrm rot="7199997">
            <a:off x="3974390" y="1469042"/>
            <a:ext cx="4328843" cy="3896518"/>
          </a:xfrm>
          <a:custGeom>
            <a:rect b="b" l="l" r="r" t="t"/>
            <a:pathLst>
              <a:path extrusionOk="0" h="1096" w="1231">
                <a:moveTo>
                  <a:pt x="377" y="1096"/>
                </a:moveTo>
                <a:cubicBezTo>
                  <a:pt x="334" y="1096"/>
                  <a:pt x="281" y="1066"/>
                  <a:pt x="260" y="1029"/>
                </a:cubicBezTo>
                <a:cubicBezTo>
                  <a:pt x="21" y="615"/>
                  <a:pt x="21" y="615"/>
                  <a:pt x="21" y="615"/>
                </a:cubicBezTo>
                <a:cubicBezTo>
                  <a:pt x="0" y="578"/>
                  <a:pt x="0" y="518"/>
                  <a:pt x="21" y="481"/>
                </a:cubicBezTo>
                <a:cubicBezTo>
                  <a:pt x="260" y="67"/>
                  <a:pt x="260" y="67"/>
                  <a:pt x="260" y="67"/>
                </a:cubicBezTo>
                <a:cubicBezTo>
                  <a:pt x="281" y="30"/>
                  <a:pt x="334" y="0"/>
                  <a:pt x="376" y="0"/>
                </a:cubicBezTo>
                <a:cubicBezTo>
                  <a:pt x="854" y="0"/>
                  <a:pt x="854" y="0"/>
                  <a:pt x="854" y="0"/>
                </a:cubicBezTo>
                <a:cubicBezTo>
                  <a:pt x="897" y="0"/>
                  <a:pt x="949" y="30"/>
                  <a:pt x="970" y="67"/>
                </a:cubicBezTo>
                <a:cubicBezTo>
                  <a:pt x="1209" y="481"/>
                  <a:pt x="1209" y="481"/>
                  <a:pt x="1209" y="481"/>
                </a:cubicBezTo>
                <a:cubicBezTo>
                  <a:pt x="1231" y="518"/>
                  <a:pt x="1231" y="578"/>
                  <a:pt x="1209" y="615"/>
                </a:cubicBezTo>
                <a:cubicBezTo>
                  <a:pt x="970" y="1029"/>
                  <a:pt x="970" y="1029"/>
                  <a:pt x="970" y="1029"/>
                </a:cubicBezTo>
                <a:cubicBezTo>
                  <a:pt x="949" y="1066"/>
                  <a:pt x="897" y="1096"/>
                  <a:pt x="854" y="1096"/>
                </a:cubicBezTo>
                <a:cubicBezTo>
                  <a:pt x="854" y="1096"/>
                  <a:pt x="854" y="1096"/>
                  <a:pt x="854" y="1096"/>
                </a:cubicBezTo>
                <a:lnTo>
                  <a:pt x="377" y="1096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A22F35"/>
                </a:solidFill>
                <a:latin typeface="Calibri"/>
                <a:ea typeface="Calibri"/>
                <a:cs typeface="Calibri"/>
                <a:sym typeface="Calibri"/>
              </a:rPr>
              <a:t>         </a:t>
            </a:r>
            <a:endParaRPr sz="2400">
              <a:solidFill>
                <a:srgbClr val="A22F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18"/>
          <p:cNvSpPr/>
          <p:nvPr/>
        </p:nvSpPr>
        <p:spPr>
          <a:xfrm rot="7200000">
            <a:off x="3911751" y="1559631"/>
            <a:ext cx="4205298" cy="3878264"/>
          </a:xfrm>
          <a:custGeom>
            <a:rect b="b" l="l" r="r" t="t"/>
            <a:pathLst>
              <a:path extrusionOk="0" h="1096" w="1231">
                <a:moveTo>
                  <a:pt x="377" y="1096"/>
                </a:moveTo>
                <a:cubicBezTo>
                  <a:pt x="334" y="1096"/>
                  <a:pt x="281" y="1066"/>
                  <a:pt x="260" y="1029"/>
                </a:cubicBezTo>
                <a:cubicBezTo>
                  <a:pt x="21" y="615"/>
                  <a:pt x="21" y="615"/>
                  <a:pt x="21" y="615"/>
                </a:cubicBezTo>
                <a:cubicBezTo>
                  <a:pt x="0" y="578"/>
                  <a:pt x="0" y="518"/>
                  <a:pt x="21" y="481"/>
                </a:cubicBezTo>
                <a:cubicBezTo>
                  <a:pt x="260" y="67"/>
                  <a:pt x="260" y="67"/>
                  <a:pt x="260" y="67"/>
                </a:cubicBezTo>
                <a:cubicBezTo>
                  <a:pt x="281" y="30"/>
                  <a:pt x="334" y="0"/>
                  <a:pt x="376" y="0"/>
                </a:cubicBezTo>
                <a:cubicBezTo>
                  <a:pt x="854" y="0"/>
                  <a:pt x="854" y="0"/>
                  <a:pt x="854" y="0"/>
                </a:cubicBezTo>
                <a:cubicBezTo>
                  <a:pt x="897" y="0"/>
                  <a:pt x="949" y="30"/>
                  <a:pt x="970" y="67"/>
                </a:cubicBezTo>
                <a:cubicBezTo>
                  <a:pt x="1209" y="481"/>
                  <a:pt x="1209" y="481"/>
                  <a:pt x="1209" y="481"/>
                </a:cubicBezTo>
                <a:cubicBezTo>
                  <a:pt x="1231" y="518"/>
                  <a:pt x="1231" y="578"/>
                  <a:pt x="1209" y="615"/>
                </a:cubicBezTo>
                <a:cubicBezTo>
                  <a:pt x="970" y="1029"/>
                  <a:pt x="970" y="1029"/>
                  <a:pt x="970" y="1029"/>
                </a:cubicBezTo>
                <a:cubicBezTo>
                  <a:pt x="949" y="1066"/>
                  <a:pt x="897" y="1096"/>
                  <a:pt x="854" y="1096"/>
                </a:cubicBezTo>
                <a:cubicBezTo>
                  <a:pt x="854" y="1096"/>
                  <a:pt x="854" y="1096"/>
                  <a:pt x="854" y="1096"/>
                </a:cubicBezTo>
                <a:lnTo>
                  <a:pt x="377" y="1096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A22F35"/>
                </a:solidFill>
                <a:latin typeface="Calibri"/>
                <a:ea typeface="Calibri"/>
                <a:cs typeface="Calibri"/>
                <a:sym typeface="Calibri"/>
              </a:rPr>
              <a:t>         </a:t>
            </a:r>
            <a:endParaRPr sz="2400">
              <a:solidFill>
                <a:srgbClr val="A22F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18"/>
          <p:cNvSpPr/>
          <p:nvPr/>
        </p:nvSpPr>
        <p:spPr>
          <a:xfrm>
            <a:off x="393499" y="1229150"/>
            <a:ext cx="30405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1.查詢教室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4" name="Google Shape;184;p18"/>
          <p:cNvSpPr/>
          <p:nvPr/>
        </p:nvSpPr>
        <p:spPr>
          <a:xfrm>
            <a:off x="8543248" y="1229150"/>
            <a:ext cx="28761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2.申請借用</a:t>
            </a: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教室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5" name="Google Shape;185;p18"/>
          <p:cNvSpPr/>
          <p:nvPr/>
        </p:nvSpPr>
        <p:spPr>
          <a:xfrm>
            <a:off x="773450" y="4083975"/>
            <a:ext cx="22806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3.取消借用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6" name="Google Shape;186;p18"/>
          <p:cNvSpPr/>
          <p:nvPr/>
        </p:nvSpPr>
        <p:spPr>
          <a:xfrm>
            <a:off x="8707550" y="4083975"/>
            <a:ext cx="28761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4</a:t>
            </a: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.</a:t>
            </a: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查看借用紀錄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7" name="Google Shape;187;p18"/>
          <p:cNvSpPr/>
          <p:nvPr/>
        </p:nvSpPr>
        <p:spPr>
          <a:xfrm>
            <a:off x="119350" y="1959825"/>
            <a:ext cx="4473300" cy="16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輸入：日期、時間、設備需求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輸出：可用教室清單、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    人數限制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8" name="Google Shape;188;p18"/>
          <p:cNvSpPr/>
          <p:nvPr/>
        </p:nvSpPr>
        <p:spPr>
          <a:xfrm>
            <a:off x="393500" y="249643"/>
            <a:ext cx="48621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lang="en-US" sz="4029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使用案例</a:t>
            </a:r>
            <a:endParaRPr sz="1700"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89" name="Google Shape;189;p18"/>
          <p:cNvSpPr/>
          <p:nvPr/>
        </p:nvSpPr>
        <p:spPr>
          <a:xfrm>
            <a:off x="4439263" y="2434825"/>
            <a:ext cx="3114900" cy="21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一般使用者</a:t>
            </a:r>
            <a:endParaRPr sz="3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學生/教師</a:t>
            </a:r>
            <a:endParaRPr sz="3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90" name="Google Shape;190;p18"/>
          <p:cNvSpPr/>
          <p:nvPr/>
        </p:nvSpPr>
        <p:spPr>
          <a:xfrm>
            <a:off x="8181000" y="2042475"/>
            <a:ext cx="4010700" cy="19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輸入：時間、教室代號、申請人資訊（姓名、電話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等）、用途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系統自動檢查是否有時間衝突（衝堂）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91" name="Google Shape;191;p18"/>
          <p:cNvSpPr/>
          <p:nvPr/>
        </p:nvSpPr>
        <p:spPr>
          <a:xfrm>
            <a:off x="173925" y="4835050"/>
            <a:ext cx="4862100" cy="16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條件：借用尚未開始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（還未到借用日期與時間）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使用者可取消未開始的借用申請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192" name="Google Shape;192;p18"/>
          <p:cNvSpPr/>
          <p:nvPr/>
        </p:nvSpPr>
        <p:spPr>
          <a:xfrm>
            <a:off x="8181000" y="4890200"/>
            <a:ext cx="4010700" cy="9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查詢個人或特定教室的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歷史借用紀錄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9"/>
          <p:cNvSpPr/>
          <p:nvPr/>
        </p:nvSpPr>
        <p:spPr>
          <a:xfrm>
            <a:off x="138000" y="2100122"/>
            <a:ext cx="4010805" cy="6314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19"/>
          <p:cNvSpPr/>
          <p:nvPr/>
        </p:nvSpPr>
        <p:spPr>
          <a:xfrm flipH="1">
            <a:off x="7842450" y="2221525"/>
            <a:ext cx="4293825" cy="583500"/>
          </a:xfrm>
          <a:custGeom>
            <a:rect b="b" l="l" r="r" t="t"/>
            <a:pathLst>
              <a:path extrusionOk="0" h="1741792" w="3234520">
                <a:moveTo>
                  <a:pt x="3234520" y="0"/>
                </a:moveTo>
                <a:lnTo>
                  <a:pt x="1009935" y="0"/>
                </a:lnTo>
                <a:cubicBezTo>
                  <a:pt x="791571" y="4549"/>
                  <a:pt x="614149" y="90985"/>
                  <a:pt x="518615" y="300251"/>
                </a:cubicBezTo>
                <a:lnTo>
                  <a:pt x="0" y="1733266"/>
                </a:lnTo>
                <a:lnTo>
                  <a:pt x="2279176" y="1733266"/>
                </a:lnTo>
                <a:cubicBezTo>
                  <a:pt x="2538484" y="1760561"/>
                  <a:pt x="2606723" y="1733266"/>
                  <a:pt x="2729553" y="1487606"/>
                </a:cubicBezTo>
                <a:lnTo>
                  <a:pt x="3234520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19"/>
          <p:cNvSpPr/>
          <p:nvPr/>
        </p:nvSpPr>
        <p:spPr>
          <a:xfrm>
            <a:off x="-7081" y="193293"/>
            <a:ext cx="396000" cy="672000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19"/>
          <p:cNvSpPr/>
          <p:nvPr/>
        </p:nvSpPr>
        <p:spPr>
          <a:xfrm>
            <a:off x="623149" y="2101113"/>
            <a:ext cx="3040500" cy="449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1.</a:t>
            </a: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審核借用申請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1" name="Google Shape;201;p19"/>
          <p:cNvSpPr/>
          <p:nvPr/>
        </p:nvSpPr>
        <p:spPr>
          <a:xfrm>
            <a:off x="8146594" y="2192800"/>
            <a:ext cx="3556800" cy="81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2.</a:t>
            </a:r>
            <a:r>
              <a:rPr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教室及設備管理</a:t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2" name="Google Shape;202;p19"/>
          <p:cNvSpPr/>
          <p:nvPr/>
        </p:nvSpPr>
        <p:spPr>
          <a:xfrm>
            <a:off x="157125" y="2904550"/>
            <a:ext cx="3600900" cy="21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狀態流程：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○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Pending（審核中）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○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Approved（核准）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1" marL="9144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○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Rejected（拒絕，須填寫拒絕原因）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3" name="Google Shape;203;p19"/>
          <p:cNvSpPr/>
          <p:nvPr/>
        </p:nvSpPr>
        <p:spPr>
          <a:xfrm>
            <a:off x="393500" y="249643"/>
            <a:ext cx="48621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lang="en-US" sz="4029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使用案例</a:t>
            </a:r>
            <a:endParaRPr sz="1700"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4" name="Google Shape;204;p19"/>
          <p:cNvSpPr/>
          <p:nvPr/>
        </p:nvSpPr>
        <p:spPr>
          <a:xfrm>
            <a:off x="8233225" y="2988550"/>
            <a:ext cx="4403400" cy="1959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新增教室 / 設備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停用教室 / 設備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746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DFKai-SB"/>
              <a:buChar char="●"/>
            </a:pPr>
            <a:r>
              <a:rPr lang="en-US" sz="2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設定教室狀態為「維修中」（UnderMaintenance）</a:t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5" name="Google Shape;205;p19"/>
          <p:cNvSpPr/>
          <p:nvPr/>
        </p:nvSpPr>
        <p:spPr>
          <a:xfrm rot="7199997">
            <a:off x="3974390" y="1469041"/>
            <a:ext cx="4328843" cy="3896518"/>
          </a:xfrm>
          <a:custGeom>
            <a:rect b="b" l="l" r="r" t="t"/>
            <a:pathLst>
              <a:path extrusionOk="0" h="1096" w="1231">
                <a:moveTo>
                  <a:pt x="377" y="1096"/>
                </a:moveTo>
                <a:cubicBezTo>
                  <a:pt x="334" y="1096"/>
                  <a:pt x="281" y="1066"/>
                  <a:pt x="260" y="1029"/>
                </a:cubicBezTo>
                <a:cubicBezTo>
                  <a:pt x="21" y="615"/>
                  <a:pt x="21" y="615"/>
                  <a:pt x="21" y="615"/>
                </a:cubicBezTo>
                <a:cubicBezTo>
                  <a:pt x="0" y="578"/>
                  <a:pt x="0" y="518"/>
                  <a:pt x="21" y="481"/>
                </a:cubicBezTo>
                <a:cubicBezTo>
                  <a:pt x="260" y="67"/>
                  <a:pt x="260" y="67"/>
                  <a:pt x="260" y="67"/>
                </a:cubicBezTo>
                <a:cubicBezTo>
                  <a:pt x="281" y="30"/>
                  <a:pt x="334" y="0"/>
                  <a:pt x="376" y="0"/>
                </a:cubicBezTo>
                <a:cubicBezTo>
                  <a:pt x="854" y="0"/>
                  <a:pt x="854" y="0"/>
                  <a:pt x="854" y="0"/>
                </a:cubicBezTo>
                <a:cubicBezTo>
                  <a:pt x="897" y="0"/>
                  <a:pt x="949" y="30"/>
                  <a:pt x="970" y="67"/>
                </a:cubicBezTo>
                <a:cubicBezTo>
                  <a:pt x="1209" y="481"/>
                  <a:pt x="1209" y="481"/>
                  <a:pt x="1209" y="481"/>
                </a:cubicBezTo>
                <a:cubicBezTo>
                  <a:pt x="1231" y="518"/>
                  <a:pt x="1231" y="578"/>
                  <a:pt x="1209" y="615"/>
                </a:cubicBezTo>
                <a:cubicBezTo>
                  <a:pt x="970" y="1029"/>
                  <a:pt x="970" y="1029"/>
                  <a:pt x="970" y="1029"/>
                </a:cubicBezTo>
                <a:cubicBezTo>
                  <a:pt x="949" y="1066"/>
                  <a:pt x="897" y="1096"/>
                  <a:pt x="854" y="1096"/>
                </a:cubicBezTo>
                <a:cubicBezTo>
                  <a:pt x="854" y="1096"/>
                  <a:pt x="854" y="1096"/>
                  <a:pt x="854" y="1096"/>
                </a:cubicBezTo>
                <a:lnTo>
                  <a:pt x="377" y="1096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A22F35"/>
                </a:solidFill>
                <a:latin typeface="Calibri"/>
                <a:ea typeface="Calibri"/>
                <a:cs typeface="Calibri"/>
                <a:sym typeface="Calibri"/>
              </a:rPr>
              <a:t>         </a:t>
            </a:r>
            <a:endParaRPr sz="2400">
              <a:solidFill>
                <a:srgbClr val="A22F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9"/>
          <p:cNvSpPr/>
          <p:nvPr/>
        </p:nvSpPr>
        <p:spPr>
          <a:xfrm rot="7200000">
            <a:off x="3911750" y="1559630"/>
            <a:ext cx="4205298" cy="3878264"/>
          </a:xfrm>
          <a:custGeom>
            <a:rect b="b" l="l" r="r" t="t"/>
            <a:pathLst>
              <a:path extrusionOk="0" h="1096" w="1231">
                <a:moveTo>
                  <a:pt x="377" y="1096"/>
                </a:moveTo>
                <a:cubicBezTo>
                  <a:pt x="334" y="1096"/>
                  <a:pt x="281" y="1066"/>
                  <a:pt x="260" y="1029"/>
                </a:cubicBezTo>
                <a:cubicBezTo>
                  <a:pt x="21" y="615"/>
                  <a:pt x="21" y="615"/>
                  <a:pt x="21" y="615"/>
                </a:cubicBezTo>
                <a:cubicBezTo>
                  <a:pt x="0" y="578"/>
                  <a:pt x="0" y="518"/>
                  <a:pt x="21" y="481"/>
                </a:cubicBezTo>
                <a:cubicBezTo>
                  <a:pt x="260" y="67"/>
                  <a:pt x="260" y="67"/>
                  <a:pt x="260" y="67"/>
                </a:cubicBezTo>
                <a:cubicBezTo>
                  <a:pt x="281" y="30"/>
                  <a:pt x="334" y="0"/>
                  <a:pt x="376" y="0"/>
                </a:cubicBezTo>
                <a:cubicBezTo>
                  <a:pt x="854" y="0"/>
                  <a:pt x="854" y="0"/>
                  <a:pt x="854" y="0"/>
                </a:cubicBezTo>
                <a:cubicBezTo>
                  <a:pt x="897" y="0"/>
                  <a:pt x="949" y="30"/>
                  <a:pt x="970" y="67"/>
                </a:cubicBezTo>
                <a:cubicBezTo>
                  <a:pt x="1209" y="481"/>
                  <a:pt x="1209" y="481"/>
                  <a:pt x="1209" y="481"/>
                </a:cubicBezTo>
                <a:cubicBezTo>
                  <a:pt x="1231" y="518"/>
                  <a:pt x="1231" y="578"/>
                  <a:pt x="1209" y="615"/>
                </a:cubicBezTo>
                <a:cubicBezTo>
                  <a:pt x="970" y="1029"/>
                  <a:pt x="970" y="1029"/>
                  <a:pt x="970" y="1029"/>
                </a:cubicBezTo>
                <a:cubicBezTo>
                  <a:pt x="949" y="1066"/>
                  <a:pt x="897" y="1096"/>
                  <a:pt x="854" y="1096"/>
                </a:cubicBezTo>
                <a:cubicBezTo>
                  <a:pt x="854" y="1096"/>
                  <a:pt x="854" y="1096"/>
                  <a:pt x="854" y="1096"/>
                </a:cubicBezTo>
                <a:lnTo>
                  <a:pt x="377" y="1096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A22F35"/>
                </a:solidFill>
                <a:latin typeface="Calibri"/>
                <a:ea typeface="Calibri"/>
                <a:cs typeface="Calibri"/>
                <a:sym typeface="Calibri"/>
              </a:rPr>
              <a:t>         </a:t>
            </a:r>
            <a:endParaRPr sz="2400">
              <a:solidFill>
                <a:srgbClr val="A22F3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4438184" y="2506687"/>
            <a:ext cx="3114900" cy="212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45720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3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管理者</a:t>
            </a:r>
            <a:endParaRPr sz="3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 (Admin)</a:t>
            </a:r>
            <a:endParaRPr sz="3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08" name="Google Shape;208;p19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3" name="Google Shape;213;p20"/>
          <p:cNvGrpSpPr/>
          <p:nvPr/>
        </p:nvGrpSpPr>
        <p:grpSpPr>
          <a:xfrm flipH="1">
            <a:off x="5388109" y="0"/>
            <a:ext cx="6775449" cy="6913125"/>
            <a:chOff x="0" y="0"/>
            <a:chExt cx="5081587" cy="5184844"/>
          </a:xfrm>
        </p:grpSpPr>
        <p:sp>
          <p:nvSpPr>
            <p:cNvPr id="214" name="Google Shape;214;p20"/>
            <p:cNvSpPr/>
            <p:nvPr/>
          </p:nvSpPr>
          <p:spPr>
            <a:xfrm rot="10800000">
              <a:off x="1337073" y="0"/>
              <a:ext cx="2687240" cy="1493044"/>
            </a:xfrm>
            <a:custGeom>
              <a:rect b="b" l="l" r="r" t="t"/>
              <a:pathLst>
                <a:path extrusionOk="0" h="1991022" w="3582460">
                  <a:moveTo>
                    <a:pt x="3327242" y="1991022"/>
                  </a:moveTo>
                  <a:lnTo>
                    <a:pt x="255219" y="1991022"/>
                  </a:lnTo>
                  <a:lnTo>
                    <a:pt x="0" y="1544164"/>
                  </a:lnTo>
                  <a:lnTo>
                    <a:pt x="881934" y="0"/>
                  </a:lnTo>
                  <a:lnTo>
                    <a:pt x="2700526" y="0"/>
                  </a:lnTo>
                  <a:lnTo>
                    <a:pt x="3582460" y="1544164"/>
                  </a:lnTo>
                  <a:lnTo>
                    <a:pt x="3327242" y="1991022"/>
                  </a:lnTo>
                  <a:close/>
                </a:path>
              </a:pathLst>
            </a:cu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5" name="Google Shape;215;p20"/>
            <p:cNvSpPr/>
            <p:nvPr/>
          </p:nvSpPr>
          <p:spPr>
            <a:xfrm rot="10800000">
              <a:off x="0" y="1493044"/>
              <a:ext cx="1863329" cy="2316956"/>
            </a:xfrm>
            <a:custGeom>
              <a:rect b="b" l="l" r="r" t="t"/>
              <a:pathLst>
                <a:path extrusionOk="0" h="3088328" w="2483870">
                  <a:moveTo>
                    <a:pt x="2483870" y="3088328"/>
                  </a:moveTo>
                  <a:lnTo>
                    <a:pt x="881934" y="3088328"/>
                  </a:lnTo>
                  <a:lnTo>
                    <a:pt x="0" y="1544164"/>
                  </a:lnTo>
                  <a:lnTo>
                    <a:pt x="881934" y="0"/>
                  </a:lnTo>
                  <a:lnTo>
                    <a:pt x="2483870" y="0"/>
                  </a:lnTo>
                  <a:lnTo>
                    <a:pt x="2483870" y="3088328"/>
                  </a:lnTo>
                  <a:close/>
                </a:path>
              </a:pathLst>
            </a:custGeom>
            <a:solidFill>
              <a:srgbClr val="FF696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6" name="Google Shape;216;p20"/>
            <p:cNvSpPr/>
            <p:nvPr/>
          </p:nvSpPr>
          <p:spPr>
            <a:xfrm rot="10800000">
              <a:off x="1549003" y="3115866"/>
              <a:ext cx="3532584" cy="2027634"/>
            </a:xfrm>
            <a:custGeom>
              <a:rect b="b" l="l" r="r" t="t"/>
              <a:pathLst>
                <a:path extrusionOk="0" h="2702918" w="4711161">
                  <a:moveTo>
                    <a:pt x="3551362" y="2702918"/>
                  </a:moveTo>
                  <a:lnTo>
                    <a:pt x="1159799" y="2702918"/>
                  </a:lnTo>
                  <a:lnTo>
                    <a:pt x="0" y="672245"/>
                  </a:lnTo>
                  <a:lnTo>
                    <a:pt x="383946" y="0"/>
                  </a:lnTo>
                  <a:lnTo>
                    <a:pt x="4327215" y="0"/>
                  </a:lnTo>
                  <a:lnTo>
                    <a:pt x="4711161" y="672245"/>
                  </a:lnTo>
                  <a:lnTo>
                    <a:pt x="3551362" y="2702918"/>
                  </a:lnTo>
                  <a:close/>
                </a:path>
              </a:pathLst>
            </a:cu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17" name="Google Shape;217;p20"/>
            <p:cNvSpPr/>
            <p:nvPr/>
          </p:nvSpPr>
          <p:spPr>
            <a:xfrm>
              <a:off x="2321706" y="3192244"/>
              <a:ext cx="1723200" cy="1992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766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02</a:t>
              </a:r>
              <a:endParaRPr sz="14766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218" name="Google Shape;218;p20"/>
          <p:cNvSpPr/>
          <p:nvPr/>
        </p:nvSpPr>
        <p:spPr>
          <a:xfrm>
            <a:off x="623392" y="2587625"/>
            <a:ext cx="525515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51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系統需求說明</a:t>
            </a:r>
            <a:endParaRPr sz="51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cxnSp>
        <p:nvCxnSpPr>
          <p:cNvPr id="219" name="Google Shape;219;p20"/>
          <p:cNvCxnSpPr/>
          <p:nvPr/>
        </p:nvCxnSpPr>
        <p:spPr>
          <a:xfrm flipH="1">
            <a:off x="1379950" y="3427875"/>
            <a:ext cx="3826800" cy="1200"/>
          </a:xfrm>
          <a:prstGeom prst="straightConnector1">
            <a:avLst/>
          </a:prstGeom>
          <a:noFill/>
          <a:ln cap="flat" cmpd="sng" w="12700">
            <a:solidFill>
              <a:srgbClr val="CCCC33"/>
            </a:solidFill>
            <a:prstDash val="solid"/>
            <a:bevel/>
            <a:headEnd len="med" w="med" type="none"/>
            <a:tailEnd len="med" w="med" type="none"/>
          </a:ln>
        </p:spPr>
      </p:cxnSp>
      <p:sp>
        <p:nvSpPr>
          <p:cNvPr id="220" name="Google Shape;220;p20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1"/>
          <p:cNvSpPr/>
          <p:nvPr/>
        </p:nvSpPr>
        <p:spPr>
          <a:xfrm>
            <a:off x="5588001" y="2795588"/>
            <a:ext cx="987545" cy="3609530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26" name="Google Shape;226;p21"/>
          <p:cNvSpPr/>
          <p:nvPr/>
        </p:nvSpPr>
        <p:spPr>
          <a:xfrm rot="1699184">
            <a:off x="6451017" y="3501884"/>
            <a:ext cx="841357" cy="3081626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27" name="Google Shape;227;p21"/>
          <p:cNvSpPr/>
          <p:nvPr/>
        </p:nvSpPr>
        <p:spPr>
          <a:xfrm rot="3410959">
            <a:off x="6750407" y="4915516"/>
            <a:ext cx="545533" cy="1998115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28" name="Google Shape;228;p21"/>
          <p:cNvSpPr/>
          <p:nvPr/>
        </p:nvSpPr>
        <p:spPr>
          <a:xfrm flipH="1" rot="-1699184">
            <a:off x="4890105" y="3517759"/>
            <a:ext cx="841357" cy="3081626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29" name="Google Shape;229;p21"/>
          <p:cNvSpPr/>
          <p:nvPr/>
        </p:nvSpPr>
        <p:spPr>
          <a:xfrm flipH="1" rot="-3403847">
            <a:off x="4886963" y="4930232"/>
            <a:ext cx="543812" cy="1998115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0" name="Google Shape;230;p21"/>
          <p:cNvSpPr/>
          <p:nvPr/>
        </p:nvSpPr>
        <p:spPr>
          <a:xfrm>
            <a:off x="291850" y="2795602"/>
            <a:ext cx="4104900" cy="9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2.支援教室借用類型選擇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（短期借用 / 長期借用）</a:t>
            </a:r>
            <a:endParaRPr b="1" sz="22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1" name="Google Shape;231;p21"/>
          <p:cNvSpPr/>
          <p:nvPr/>
        </p:nvSpPr>
        <p:spPr>
          <a:xfrm>
            <a:off x="5545264" y="6598657"/>
            <a:ext cx="1072800" cy="1072800"/>
          </a:xfrm>
          <a:prstGeom prst="ellipse">
            <a:avLst/>
          </a:prstGeom>
          <a:solidFill>
            <a:srgbClr val="CCCC3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67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5701847" y="6704594"/>
            <a:ext cx="759600" cy="759600"/>
          </a:xfrm>
          <a:prstGeom prst="ellipse">
            <a:avLst/>
          </a:prstGeom>
          <a:solidFill>
            <a:srgbClr val="33666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67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3554574" y="1667100"/>
            <a:ext cx="49302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3.使用者可以查詢教室狀態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7394725" y="2795600"/>
            <a:ext cx="4719900" cy="7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4.系統需防止時間衝突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（同一教室不可同時被借用）</a:t>
            </a:r>
            <a:endParaRPr b="1" sz="22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5" name="Google Shape;235;p21"/>
          <p:cNvSpPr/>
          <p:nvPr/>
        </p:nvSpPr>
        <p:spPr>
          <a:xfrm>
            <a:off x="7702213" y="4917172"/>
            <a:ext cx="41049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5.借用需經過審核</a:t>
            </a:r>
            <a:endParaRPr b="1" sz="22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192476" y="4917179"/>
            <a:ext cx="41049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1.使用者必須能登入系統</a:t>
            </a:r>
            <a:endParaRPr b="1" sz="2267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-7081" y="193293"/>
            <a:ext cx="396000" cy="672000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476125" y="193293"/>
            <a:ext cx="48621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4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功能性需求</a:t>
            </a:r>
            <a:endParaRPr b="1" sz="42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39" name="Google Shape;239;p21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2"/>
          <p:cNvSpPr/>
          <p:nvPr/>
        </p:nvSpPr>
        <p:spPr>
          <a:xfrm>
            <a:off x="5588001" y="2795588"/>
            <a:ext cx="987545" cy="3609530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45" name="Google Shape;245;p22"/>
          <p:cNvSpPr/>
          <p:nvPr/>
        </p:nvSpPr>
        <p:spPr>
          <a:xfrm rot="1699184">
            <a:off x="6451017" y="3501884"/>
            <a:ext cx="841357" cy="3081626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46" name="Google Shape;246;p22"/>
          <p:cNvSpPr/>
          <p:nvPr/>
        </p:nvSpPr>
        <p:spPr>
          <a:xfrm rot="3410959">
            <a:off x="6750407" y="4915516"/>
            <a:ext cx="545533" cy="1998115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47" name="Google Shape;247;p22"/>
          <p:cNvSpPr/>
          <p:nvPr/>
        </p:nvSpPr>
        <p:spPr>
          <a:xfrm flipH="1" rot="-1699184">
            <a:off x="4890105" y="3517759"/>
            <a:ext cx="841357" cy="3081626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48" name="Google Shape;248;p22"/>
          <p:cNvSpPr/>
          <p:nvPr/>
        </p:nvSpPr>
        <p:spPr>
          <a:xfrm flipH="1" rot="-3403847">
            <a:off x="4886963" y="4930232"/>
            <a:ext cx="543812" cy="1998115"/>
          </a:xfrm>
          <a:custGeom>
            <a:rect b="b" l="l" r="r" t="t"/>
            <a:pathLst>
              <a:path extrusionOk="0" h="3014221" w="822954">
                <a:moveTo>
                  <a:pt x="411477" y="0"/>
                </a:moveTo>
                <a:lnTo>
                  <a:pt x="822954" y="466659"/>
                </a:lnTo>
                <a:lnTo>
                  <a:pt x="635753" y="466659"/>
                </a:lnTo>
                <a:lnTo>
                  <a:pt x="411477" y="3014221"/>
                </a:lnTo>
                <a:lnTo>
                  <a:pt x="187201" y="466659"/>
                </a:lnTo>
                <a:lnTo>
                  <a:pt x="0" y="466659"/>
                </a:lnTo>
                <a:lnTo>
                  <a:pt x="411477" y="0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49" name="Google Shape;249;p22"/>
          <p:cNvSpPr/>
          <p:nvPr/>
        </p:nvSpPr>
        <p:spPr>
          <a:xfrm>
            <a:off x="1045825" y="3001277"/>
            <a:ext cx="4104900" cy="90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7.管理員可管理教室資料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0" name="Google Shape;250;p22"/>
          <p:cNvSpPr/>
          <p:nvPr/>
        </p:nvSpPr>
        <p:spPr>
          <a:xfrm>
            <a:off x="5545264" y="6598657"/>
            <a:ext cx="1072800" cy="1072800"/>
          </a:xfrm>
          <a:prstGeom prst="ellipse">
            <a:avLst/>
          </a:prstGeom>
          <a:solidFill>
            <a:srgbClr val="CCCC33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67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1" name="Google Shape;251;p22"/>
          <p:cNvSpPr/>
          <p:nvPr/>
        </p:nvSpPr>
        <p:spPr>
          <a:xfrm>
            <a:off x="5701847" y="6704594"/>
            <a:ext cx="759600" cy="759600"/>
          </a:xfrm>
          <a:prstGeom prst="ellipse">
            <a:avLst/>
          </a:prstGeom>
          <a:solidFill>
            <a:srgbClr val="336666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67">
              <a:solidFill>
                <a:schemeClr val="dk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4096357" y="1667111"/>
            <a:ext cx="41049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8.系統記錄審核歷程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(記錄審核者與操作內容)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3" name="Google Shape;253;p22"/>
          <p:cNvSpPr/>
          <p:nvPr/>
        </p:nvSpPr>
        <p:spPr>
          <a:xfrm>
            <a:off x="7204075" y="3074778"/>
            <a:ext cx="4104900" cy="75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9.使用者可取消尚未開始的借用申請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4" name="Google Shape;254;p22"/>
          <p:cNvSpPr/>
          <p:nvPr/>
        </p:nvSpPr>
        <p:spPr>
          <a:xfrm>
            <a:off x="8009725" y="4847875"/>
            <a:ext cx="4104900" cy="12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10.記錄並管理教室所包含之設備資訊（如投影機、麥克風等）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5" name="Google Shape;255;p22"/>
          <p:cNvSpPr/>
          <p:nvPr/>
        </p:nvSpPr>
        <p:spPr>
          <a:xfrm>
            <a:off x="388925" y="4875875"/>
            <a:ext cx="4342200" cy="543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100"/>
              <a:buNone/>
            </a:pPr>
            <a:r>
              <a:rPr b="1" lang="en-US" sz="26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6.系統需保存歷史借用紀錄</a:t>
            </a:r>
            <a:endParaRPr b="1" sz="26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-7081" y="193293"/>
            <a:ext cx="396000" cy="672000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7" name="Google Shape;257;p22"/>
          <p:cNvSpPr/>
          <p:nvPr/>
        </p:nvSpPr>
        <p:spPr>
          <a:xfrm>
            <a:off x="393500" y="249643"/>
            <a:ext cx="48621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b="1" lang="en-US" sz="4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功能性需求</a:t>
            </a:r>
            <a:endParaRPr b="1" sz="4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4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58" name="Google Shape;258;p22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 rot="10800000">
            <a:off x="1782764" y="0"/>
            <a:ext cx="3582987" cy="1990725"/>
          </a:xfrm>
          <a:custGeom>
            <a:rect b="b" l="l" r="r" t="t"/>
            <a:pathLst>
              <a:path extrusionOk="0" h="1991022" w="3582460">
                <a:moveTo>
                  <a:pt x="3327242" y="1991022"/>
                </a:moveTo>
                <a:lnTo>
                  <a:pt x="255219" y="1991022"/>
                </a:lnTo>
                <a:lnTo>
                  <a:pt x="0" y="1544164"/>
                </a:lnTo>
                <a:lnTo>
                  <a:pt x="881934" y="0"/>
                </a:lnTo>
                <a:lnTo>
                  <a:pt x="2700526" y="0"/>
                </a:lnTo>
                <a:lnTo>
                  <a:pt x="3582460" y="1544164"/>
                </a:lnTo>
                <a:lnTo>
                  <a:pt x="3327242" y="1991022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3"/>
          <p:cNvSpPr/>
          <p:nvPr/>
        </p:nvSpPr>
        <p:spPr>
          <a:xfrm rot="10800000">
            <a:off x="1" y="1990725"/>
            <a:ext cx="2484439" cy="3089275"/>
          </a:xfrm>
          <a:custGeom>
            <a:rect b="b" l="l" r="r" t="t"/>
            <a:pathLst>
              <a:path extrusionOk="0" h="3088328" w="2483870">
                <a:moveTo>
                  <a:pt x="2483870" y="3088328"/>
                </a:moveTo>
                <a:lnTo>
                  <a:pt x="881934" y="3088328"/>
                </a:lnTo>
                <a:lnTo>
                  <a:pt x="0" y="1544164"/>
                </a:lnTo>
                <a:lnTo>
                  <a:pt x="881934" y="0"/>
                </a:lnTo>
                <a:lnTo>
                  <a:pt x="2483870" y="0"/>
                </a:lnTo>
                <a:lnTo>
                  <a:pt x="2483870" y="3088328"/>
                </a:lnTo>
                <a:close/>
              </a:path>
            </a:pathLst>
          </a:custGeom>
          <a:solidFill>
            <a:srgbClr val="FF696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3"/>
          <p:cNvSpPr/>
          <p:nvPr/>
        </p:nvSpPr>
        <p:spPr>
          <a:xfrm rot="10800000">
            <a:off x="2065337" y="4154488"/>
            <a:ext cx="4710112" cy="2703512"/>
          </a:xfrm>
          <a:custGeom>
            <a:rect b="b" l="l" r="r" t="t"/>
            <a:pathLst>
              <a:path extrusionOk="0" h="2702918" w="4711161">
                <a:moveTo>
                  <a:pt x="3551362" y="2702918"/>
                </a:moveTo>
                <a:lnTo>
                  <a:pt x="1159799" y="2702918"/>
                </a:lnTo>
                <a:lnTo>
                  <a:pt x="0" y="672245"/>
                </a:lnTo>
                <a:lnTo>
                  <a:pt x="383946" y="0"/>
                </a:lnTo>
                <a:lnTo>
                  <a:pt x="4327215" y="0"/>
                </a:lnTo>
                <a:lnTo>
                  <a:pt x="4711161" y="672245"/>
                </a:lnTo>
                <a:lnTo>
                  <a:pt x="3551362" y="2702918"/>
                </a:lnTo>
                <a:close/>
              </a:path>
            </a:pathLst>
          </a:cu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23"/>
          <p:cNvSpPr/>
          <p:nvPr/>
        </p:nvSpPr>
        <p:spPr>
          <a:xfrm>
            <a:off x="3413275" y="4353075"/>
            <a:ext cx="2225700" cy="26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66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03</a:t>
            </a:r>
            <a:endParaRPr sz="16066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67" name="Google Shape;267;p23"/>
          <p:cNvSpPr/>
          <p:nvPr/>
        </p:nvSpPr>
        <p:spPr>
          <a:xfrm>
            <a:off x="6384032" y="2587625"/>
            <a:ext cx="525515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完整性限制</a:t>
            </a:r>
            <a:endParaRPr b="1" sz="4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cxnSp>
        <p:nvCxnSpPr>
          <p:cNvPr id="268" name="Google Shape;268;p23"/>
          <p:cNvCxnSpPr/>
          <p:nvPr/>
        </p:nvCxnSpPr>
        <p:spPr>
          <a:xfrm>
            <a:off x="8940007" y="1629570"/>
            <a:ext cx="0" cy="3598863"/>
          </a:xfrm>
          <a:prstGeom prst="straightConnector1">
            <a:avLst/>
          </a:prstGeom>
          <a:noFill/>
          <a:ln cap="flat" cmpd="sng" w="12700">
            <a:solidFill>
              <a:srgbClr val="CCCC33"/>
            </a:solidFill>
            <a:prstDash val="solid"/>
            <a:bevel/>
            <a:headEnd len="med" w="med" type="none"/>
            <a:tailEnd len="med" w="med" type="none"/>
          </a:ln>
        </p:spPr>
      </p:cxnSp>
      <p:sp>
        <p:nvSpPr>
          <p:cNvPr id="269" name="Google Shape;269;p23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75" name="Google Shape;275;p24"/>
          <p:cNvGraphicFramePr/>
          <p:nvPr/>
        </p:nvGraphicFramePr>
        <p:xfrm>
          <a:off x="643700" y="1304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2471975"/>
                <a:gridCol w="2850750"/>
                <a:gridCol w="5581875"/>
              </a:tblGrid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user_id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主鍵，使用者唯一識別碼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name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姓名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phone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聯絡電話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account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登入帳號（唯一）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password_hash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密碼雜湊（非明文儲存）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98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role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角色：</a:t>
                      </a: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'Student'</a:t>
                      </a: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, </a:t>
                      </a: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'Teacher'</a:t>
                      </a: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, </a:t>
                      </a: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'Admin'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sp>
        <p:nvSpPr>
          <p:cNvPr id="276" name="Google Shape;276;p24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‹#›</a:t>
            </a:fld>
            <a:endParaRPr sz="18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277" name="Google Shape;277;p24"/>
          <p:cNvGrpSpPr/>
          <p:nvPr/>
        </p:nvGrpSpPr>
        <p:grpSpPr>
          <a:xfrm>
            <a:off x="-7081" y="193293"/>
            <a:ext cx="5262681" cy="672000"/>
            <a:chOff x="-7081" y="193293"/>
            <a:chExt cx="5262681" cy="672000"/>
          </a:xfrm>
        </p:grpSpPr>
        <p:sp>
          <p:nvSpPr>
            <p:cNvPr id="278" name="Google Shape;278;p24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279" name="Google Shape;279;p24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  User (使用者)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25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‹#›</a:t>
            </a:fld>
            <a:endParaRPr sz="18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286" name="Google Shape;286;p25"/>
          <p:cNvSpPr txBox="1"/>
          <p:nvPr/>
        </p:nvSpPr>
        <p:spPr>
          <a:xfrm>
            <a:off x="696600" y="2195250"/>
            <a:ext cx="10798800" cy="246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4127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DFKai-SB"/>
              <a:buChar char="●"/>
            </a:pPr>
            <a:r>
              <a:rPr b="1" lang="en-US" sz="29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user_id 為主鍵，值必須唯一且非空</a:t>
            </a:r>
            <a:endParaRPr b="1" sz="29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27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DFKai-SB"/>
              <a:buChar char="●"/>
            </a:pPr>
            <a:r>
              <a:rPr b="1" lang="en-US" sz="29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account 必須唯一，不可重複</a:t>
            </a:r>
            <a:endParaRPr b="1" sz="29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27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DFKai-SB"/>
              <a:buChar char="●"/>
            </a:pPr>
            <a:r>
              <a:rPr b="1" lang="en-US" sz="29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role 合法值為：'Student', 'Teacher', 'Admin'</a:t>
            </a:r>
            <a:endParaRPr b="1" sz="29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27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Font typeface="DFKai-SB"/>
              <a:buChar char="●"/>
            </a:pPr>
            <a:r>
              <a:rPr b="1" lang="en-US" sz="29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至少需有一筆 role = 'Admin' 的使用者，否則系統無法運作</a:t>
            </a:r>
            <a:endParaRPr b="1" sz="29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287" name="Google Shape;287;p25"/>
          <p:cNvGrpSpPr/>
          <p:nvPr/>
        </p:nvGrpSpPr>
        <p:grpSpPr>
          <a:xfrm>
            <a:off x="-7081" y="193293"/>
            <a:ext cx="5262681" cy="672000"/>
            <a:chOff x="-7081" y="193293"/>
            <a:chExt cx="5262681" cy="672000"/>
          </a:xfrm>
        </p:grpSpPr>
        <p:sp>
          <p:nvSpPr>
            <p:cNvPr id="288" name="Google Shape;288;p25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289" name="Google Shape;289;p25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  </a:t>
              </a: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U</a:t>
              </a: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ser (使用者)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5" name="Google Shape;295;p26"/>
          <p:cNvGraphicFramePr/>
          <p:nvPr/>
        </p:nvGraphicFramePr>
        <p:xfrm>
          <a:off x="442213" y="13335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1943175"/>
                <a:gridCol w="2560325"/>
                <a:gridCol w="6804075"/>
              </a:tblGrid>
              <a:tr h="464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464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room_id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主鍵，教室唯一識別碼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79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room_name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教室名稱（例如「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BGC0614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」）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64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location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位置（例如「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綜三館 6F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」）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643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capacity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可容人數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6106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status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教室狀態：'Normal', 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'</a:t>
                      </a:r>
                      <a:r>
                        <a:rPr b="1" lang="en-US" sz="24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UnderMaintenance'</a:t>
                      </a:r>
                      <a:endParaRPr b="1" sz="24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rgbClr val="FCFCF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grpSp>
        <p:nvGrpSpPr>
          <p:cNvPr id="296" name="Google Shape;296;p26"/>
          <p:cNvGrpSpPr/>
          <p:nvPr/>
        </p:nvGrpSpPr>
        <p:grpSpPr>
          <a:xfrm>
            <a:off x="-6" y="205493"/>
            <a:ext cx="5262681" cy="672000"/>
            <a:chOff x="-7081" y="193293"/>
            <a:chExt cx="5262681" cy="672000"/>
          </a:xfrm>
        </p:grpSpPr>
        <p:sp>
          <p:nvSpPr>
            <p:cNvPr id="297" name="Google Shape;297;p26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298" name="Google Shape;298;p26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Room（教室）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299" name="Google Shape;299;p26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7"/>
          <p:cNvSpPr txBox="1"/>
          <p:nvPr>
            <p:ph type="title"/>
          </p:nvPr>
        </p:nvSpPr>
        <p:spPr>
          <a:xfrm>
            <a:off x="262425" y="2249825"/>
            <a:ext cx="11846400" cy="2700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FKai-SB"/>
              <a:buChar char="●"/>
            </a:pP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room_id 為主鍵，值必須唯一且非空</a:t>
            </a:r>
            <a:endParaRPr b="1"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FKai-SB"/>
              <a:buChar char="●"/>
            </a:pP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room_name 建議唯一，避免同名教室造成混淆</a:t>
            </a:r>
            <a:endParaRPr b="1"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FKai-SB"/>
              <a:buChar char="●"/>
            </a:pP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capacity &gt; 0，人數不可為空或負數</a:t>
            </a:r>
            <a:endParaRPr b="1"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FKai-SB"/>
              <a:buChar char="●"/>
            </a:pP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status 合法值為：'Normal', 'UnderMaintenance'，不可為其他</a:t>
            </a: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值</a:t>
            </a:r>
            <a:endParaRPr b="1"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10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DFKai-SB"/>
              <a:buChar char="●"/>
            </a:pPr>
            <a:r>
              <a:rPr b="1" lang="en-US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若 status = 'UnderMaintenance'，則不得有 status = 'Approved' 的借用申請</a:t>
            </a:r>
            <a:endParaRPr b="1" sz="2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306" name="Google Shape;306;p27"/>
          <p:cNvGrpSpPr/>
          <p:nvPr/>
        </p:nvGrpSpPr>
        <p:grpSpPr>
          <a:xfrm>
            <a:off x="-6" y="291893"/>
            <a:ext cx="5262681" cy="672000"/>
            <a:chOff x="-7081" y="193293"/>
            <a:chExt cx="5262681" cy="672000"/>
          </a:xfrm>
        </p:grpSpPr>
        <p:sp>
          <p:nvSpPr>
            <p:cNvPr id="307" name="Google Shape;307;p27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Room（教室）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09" name="Google Shape;309;p27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5" name="Google Shape;315;p28"/>
          <p:cNvGraphicFramePr/>
          <p:nvPr/>
        </p:nvGraphicFramePr>
        <p:xfrm>
          <a:off x="524775" y="21220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1755475"/>
                <a:gridCol w="3293950"/>
                <a:gridCol w="5773725"/>
              </a:tblGrid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eq_id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主鍵，設備唯一識別碼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eq_name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設備名稱（例如「投影機」）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room_id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外鍵，對應 Room.room_id</a:t>
                      </a:r>
                      <a:endParaRPr b="1" sz="2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grpSp>
        <p:nvGrpSpPr>
          <p:cNvPr id="316" name="Google Shape;316;p28"/>
          <p:cNvGrpSpPr/>
          <p:nvPr/>
        </p:nvGrpSpPr>
        <p:grpSpPr>
          <a:xfrm>
            <a:off x="-6" y="291893"/>
            <a:ext cx="5262681" cy="672000"/>
            <a:chOff x="-7081" y="193293"/>
            <a:chExt cx="5262681" cy="672000"/>
          </a:xfrm>
        </p:grpSpPr>
        <p:sp>
          <p:nvSpPr>
            <p:cNvPr id="317" name="Google Shape;317;p28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18" name="Google Shape;318;p28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Font typeface="Arial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Equipment</a:t>
              </a: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（教室設備）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19" name="Google Shape;319;p28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29"/>
          <p:cNvSpPr txBox="1"/>
          <p:nvPr>
            <p:ph type="title"/>
          </p:nvPr>
        </p:nvSpPr>
        <p:spPr>
          <a:xfrm>
            <a:off x="838200" y="2307550"/>
            <a:ext cx="10515600" cy="28458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DFKai-SB"/>
              <a:buChar char="●"/>
            </a:pP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eq_id 為主鍵，值必須唯一且非空</a:t>
            </a:r>
            <a:endParaRPr b="1"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DFKai-SB"/>
              <a:buChar char="●"/>
            </a:pP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eq_name 在同一 room_id 下不可重複</a:t>
            </a:r>
            <a:endParaRPr b="1"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DFKai-SB"/>
              <a:buChar char="●"/>
            </a:pP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room_id 必須</a:t>
            </a: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對應到</a:t>
            </a: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Room.room_id（外鍵約束）</a:t>
            </a:r>
            <a:endParaRPr b="1"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191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DFKai-SB"/>
              <a:buChar char="●"/>
            </a:pPr>
            <a:r>
              <a:rPr b="1" lang="en-US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每筆 room_id 可對應多筆 eq_id，一間教室可有多項設備</a:t>
            </a:r>
            <a:endParaRPr b="1" sz="30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326" name="Google Shape;326;p29"/>
          <p:cNvGrpSpPr/>
          <p:nvPr/>
        </p:nvGrpSpPr>
        <p:grpSpPr>
          <a:xfrm>
            <a:off x="-6" y="291893"/>
            <a:ext cx="5262681" cy="672000"/>
            <a:chOff x="-7081" y="193293"/>
            <a:chExt cx="5262681" cy="672000"/>
          </a:xfrm>
        </p:grpSpPr>
        <p:sp>
          <p:nvSpPr>
            <p:cNvPr id="327" name="Google Shape;327;p29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28" name="Google Shape;328;p29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Equipment（教室設備</a:t>
              </a: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）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29" name="Google Shape;329;p29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5" name="Google Shape;335;p30"/>
          <p:cNvGraphicFramePr/>
          <p:nvPr/>
        </p:nvGraphicFramePr>
        <p:xfrm>
          <a:off x="968563" y="1356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2119800"/>
                <a:gridCol w="2678225"/>
                <a:gridCol w="5609600"/>
              </a:tblGrid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req_id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主鍵，借用申請唯一識別碼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user_id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外鍵，借用者（User.user_id）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8577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room_id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外鍵，借用教室（Room.room_id）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borrow_date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DATE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借用日期（例如「2026-04-23」）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start_time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TIME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借用起始時間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grpSp>
        <p:nvGrpSpPr>
          <p:cNvPr id="336" name="Google Shape;336;p30"/>
          <p:cNvGrpSpPr/>
          <p:nvPr/>
        </p:nvGrpSpPr>
        <p:grpSpPr>
          <a:xfrm>
            <a:off x="-6" y="291893"/>
            <a:ext cx="6285681" cy="672000"/>
            <a:chOff x="-7081" y="193293"/>
            <a:chExt cx="6285681" cy="672000"/>
          </a:xfrm>
        </p:grpSpPr>
        <p:sp>
          <p:nvSpPr>
            <p:cNvPr id="337" name="Google Shape;337;p30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38" name="Google Shape;338;p30"/>
            <p:cNvSpPr/>
            <p:nvPr/>
          </p:nvSpPr>
          <p:spPr>
            <a:xfrm>
              <a:off x="393500" y="249650"/>
              <a:ext cx="5885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SzPts val="1100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BorrowRequest</a:t>
              </a: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（借用申請）</a:t>
              </a:r>
              <a:endParaRPr b="1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39" name="Google Shape;339;p30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1"/>
          <p:cNvSpPr txBox="1"/>
          <p:nvPr/>
        </p:nvSpPr>
        <p:spPr>
          <a:xfrm>
            <a:off x="619200" y="2143125"/>
            <a:ext cx="10953600" cy="289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31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DFKai-SB"/>
              <a:buChar char="●"/>
            </a:pP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req_id 為主鍵，值必須唯一且非空</a:t>
            </a:r>
            <a:endParaRPr b="1" sz="32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31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DFKai-SB"/>
              <a:buChar char="●"/>
            </a:pP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user_id 必須</a:t>
            </a: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對應到</a:t>
            </a: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User.user_id（外鍵）</a:t>
            </a:r>
            <a:endParaRPr b="1" sz="32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31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DFKai-SB"/>
              <a:buChar char="●"/>
            </a:pP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room_id 必須</a:t>
            </a: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對應到</a:t>
            </a: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Room.room_id（外鍵）</a:t>
            </a:r>
            <a:endParaRPr b="1" sz="32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431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DFKai-SB"/>
              <a:buChar char="●"/>
            </a:pP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start_time &lt; end_time，起始時間必須早於結束時間</a:t>
            </a:r>
            <a:endParaRPr b="1" sz="32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346" name="Google Shape;346;p31"/>
          <p:cNvGrpSpPr/>
          <p:nvPr/>
        </p:nvGrpSpPr>
        <p:grpSpPr>
          <a:xfrm>
            <a:off x="-6" y="291893"/>
            <a:ext cx="6807081" cy="672000"/>
            <a:chOff x="-7081" y="193293"/>
            <a:chExt cx="6807081" cy="672000"/>
          </a:xfrm>
        </p:grpSpPr>
        <p:sp>
          <p:nvSpPr>
            <p:cNvPr id="347" name="Google Shape;347;p31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48" name="Google Shape;348;p31"/>
            <p:cNvSpPr/>
            <p:nvPr/>
          </p:nvSpPr>
          <p:spPr>
            <a:xfrm>
              <a:off x="393500" y="249650"/>
              <a:ext cx="64065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BorrowRequest（借用申請）</a:t>
              </a:r>
              <a:endParaRPr b="1"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49" name="Google Shape;349;p31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5" name="Google Shape;355;p32"/>
          <p:cNvGraphicFramePr/>
          <p:nvPr/>
        </p:nvGraphicFramePr>
        <p:xfrm>
          <a:off x="413500" y="1552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1909275"/>
                <a:gridCol w="1684450"/>
                <a:gridCol w="7771275"/>
              </a:tblGrid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end_time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TIME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借用結束時間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purpose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用途（例如「會議」、「補課」）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borrow_type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借用類型：'ShortTerm', 'LongTerm'（短期 / 長期）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status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申請狀態：'Pending', 'Approved', 'Rejected', 'Cancelled'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created_at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DATETIME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1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申請建立時間（系統自動記錄）</a:t>
                      </a:r>
                      <a:endParaRPr b="1" sz="21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grpSp>
        <p:nvGrpSpPr>
          <p:cNvPr id="356" name="Google Shape;356;p32"/>
          <p:cNvGrpSpPr/>
          <p:nvPr/>
        </p:nvGrpSpPr>
        <p:grpSpPr>
          <a:xfrm>
            <a:off x="-6" y="291893"/>
            <a:ext cx="6831981" cy="672000"/>
            <a:chOff x="-7081" y="193293"/>
            <a:chExt cx="6831981" cy="672000"/>
          </a:xfrm>
        </p:grpSpPr>
        <p:sp>
          <p:nvSpPr>
            <p:cNvPr id="357" name="Google Shape;357;p32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58" name="Google Shape;358;p32"/>
            <p:cNvSpPr/>
            <p:nvPr/>
          </p:nvSpPr>
          <p:spPr>
            <a:xfrm>
              <a:off x="393500" y="249650"/>
              <a:ext cx="64314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SzPts val="1100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BorrowRequest（借用申請）</a:t>
              </a:r>
              <a:endParaRPr b="1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b="1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59" name="Google Shape;359;p32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3"/>
          <p:cNvSpPr txBox="1"/>
          <p:nvPr/>
        </p:nvSpPr>
        <p:spPr>
          <a:xfrm>
            <a:off x="307200" y="2110100"/>
            <a:ext cx="11577600" cy="318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borrow_type 合法值為：'ShortTerm', 'LongTerm'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status 合法值為：'Pending', 'Approved', 'Rejected', 'Cancelled'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同一 room_id、同一 borrow_date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、且 status = 'Approved' 的借用紀錄，其時間區間不可重疊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若 Room.status = 'UnderMaintenance'，則該申請不可被核准為 Approved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366" name="Google Shape;366;p33"/>
          <p:cNvGrpSpPr/>
          <p:nvPr/>
        </p:nvGrpSpPr>
        <p:grpSpPr>
          <a:xfrm>
            <a:off x="2" y="291900"/>
            <a:ext cx="6484149" cy="672000"/>
            <a:chOff x="-7081" y="193293"/>
            <a:chExt cx="5262681" cy="672000"/>
          </a:xfrm>
        </p:grpSpPr>
        <p:sp>
          <p:nvSpPr>
            <p:cNvPr id="367" name="Google Shape;367;p33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68" name="Google Shape;368;p33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SzPts val="1100"/>
                <a:buNone/>
              </a:pPr>
              <a:r>
                <a:rPr b="1" lang="en-US" sz="32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BorrowRequest（借用申請）</a:t>
              </a:r>
              <a:endParaRPr b="1">
                <a:solidFill>
                  <a:schemeClr val="dk1"/>
                </a:solidFill>
                <a:latin typeface="DFKai-SB"/>
                <a:ea typeface="DFKai-SB"/>
                <a:cs typeface="DFKai-SB"/>
                <a:sym typeface="DFKai-SB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t/>
              </a:r>
              <a:endParaRPr b="1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69" name="Google Shape;369;p33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75" name="Google Shape;375;p34"/>
          <p:cNvGraphicFramePr/>
          <p:nvPr/>
        </p:nvGraphicFramePr>
        <p:xfrm>
          <a:off x="435825" y="13503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2006600"/>
                <a:gridCol w="3052600"/>
                <a:gridCol w="5977100"/>
              </a:tblGrid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欄位名稱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資料型態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3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說明</a:t>
                      </a:r>
                      <a:endParaRPr b="1" sz="23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log_id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主鍵，審核紀錄唯一識別碼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req_id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外鍵，對應 BorrowRequest.req_id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admin_id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INT / VARCHAR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外鍵，審核者（User.user_id）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action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操作：'Approve', 'Reject', 'Cancel'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reason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VARCHAR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拒絕原因（若為 action = </a:t>
                      </a: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'Reject'</a:t>
                      </a: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 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則應非空）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4101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timestamp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DATETIME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25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審核或取消時間</a:t>
                      </a:r>
                      <a:endParaRPr b="1" sz="25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grpSp>
        <p:nvGrpSpPr>
          <p:cNvPr id="376" name="Google Shape;376;p34"/>
          <p:cNvGrpSpPr/>
          <p:nvPr/>
        </p:nvGrpSpPr>
        <p:grpSpPr>
          <a:xfrm>
            <a:off x="-6" y="291893"/>
            <a:ext cx="5262681" cy="672000"/>
            <a:chOff x="-7081" y="193293"/>
            <a:chExt cx="5262681" cy="672000"/>
          </a:xfrm>
        </p:grpSpPr>
        <p:sp>
          <p:nvSpPr>
            <p:cNvPr id="377" name="Google Shape;377;p34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78" name="Google Shape;378;p34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1100"/>
                </a:spcBef>
                <a:spcAft>
                  <a:spcPts val="0"/>
                </a:spcAft>
                <a:buNone/>
              </a:pPr>
              <a:r>
                <a:rPr b="1" lang="en-US" sz="33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 AuditLog（審核歷程）</a:t>
              </a:r>
              <a:endParaRPr sz="3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  <a:p>
              <a:pPr indent="0" lvl="0" marL="0" marR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33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79" name="Google Shape;379;p34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5"/>
          <p:cNvSpPr txBox="1"/>
          <p:nvPr/>
        </p:nvSpPr>
        <p:spPr>
          <a:xfrm>
            <a:off x="461699" y="1914380"/>
            <a:ext cx="11730300" cy="345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log_id 為主鍵，值必須唯一且非空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req_id 必須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對應到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BorrowRequest.req_id（外鍵）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admin_id 必須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對應到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User.user_id（若 action 為 Approve 或 Reject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時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）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action 合法值為：'Approve', 'Reject', 'Cancel'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若 action = 'Reject'，則 reason 不可為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NULL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或只含空白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  <a:p>
            <a:pPr indent="-38735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DFKai-SB"/>
              <a:buChar char="●"/>
            </a:pP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timestamp 不可早於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對應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BorrowRequest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.created_at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的 </a:t>
            </a:r>
            <a:r>
              <a:rPr b="1" lang="en-US" sz="25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(申請建立時間)</a:t>
            </a:r>
            <a:endParaRPr b="1" sz="25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grpSp>
        <p:nvGrpSpPr>
          <p:cNvPr id="386" name="Google Shape;386;p35"/>
          <p:cNvGrpSpPr/>
          <p:nvPr/>
        </p:nvGrpSpPr>
        <p:grpSpPr>
          <a:xfrm>
            <a:off x="0" y="291900"/>
            <a:ext cx="5401090" cy="672000"/>
            <a:chOff x="-7081" y="193293"/>
            <a:chExt cx="5262681" cy="672000"/>
          </a:xfrm>
        </p:grpSpPr>
        <p:sp>
          <p:nvSpPr>
            <p:cNvPr id="387" name="Google Shape;387;p35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88" name="Google Shape;388;p35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1100"/>
                </a:spcBef>
                <a:spcAft>
                  <a:spcPts val="0"/>
                </a:spcAft>
                <a:buNone/>
              </a:pPr>
              <a:r>
                <a:rPr b="1" lang="en-US" sz="30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 AuditLog（審核歷程）</a:t>
              </a:r>
              <a:endParaRPr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  <a:p>
              <a:pPr indent="0" lvl="0" marL="0" marR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389" name="Google Shape;389;p35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5" name="Google Shape;395;p36"/>
          <p:cNvGrpSpPr/>
          <p:nvPr/>
        </p:nvGrpSpPr>
        <p:grpSpPr>
          <a:xfrm>
            <a:off x="-6" y="291893"/>
            <a:ext cx="5262681" cy="672000"/>
            <a:chOff x="-7081" y="193293"/>
            <a:chExt cx="5262681" cy="672000"/>
          </a:xfrm>
        </p:grpSpPr>
        <p:sp>
          <p:nvSpPr>
            <p:cNvPr id="396" name="Google Shape;396;p36"/>
            <p:cNvSpPr/>
            <p:nvPr/>
          </p:nvSpPr>
          <p:spPr>
            <a:xfrm>
              <a:off x="-7081" y="193293"/>
              <a:ext cx="396000" cy="672000"/>
            </a:xfrm>
            <a:prstGeom prst="rect">
              <a:avLst/>
            </a:pr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  <p:sp>
          <p:nvSpPr>
            <p:cNvPr id="397" name="Google Shape;397;p36"/>
            <p:cNvSpPr/>
            <p:nvPr/>
          </p:nvSpPr>
          <p:spPr>
            <a:xfrm>
              <a:off x="393500" y="249643"/>
              <a:ext cx="4862100" cy="584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rtl="0" algn="l">
                <a:lnSpc>
                  <a:spcPct val="120000"/>
                </a:lnSpc>
                <a:spcBef>
                  <a:spcPts val="1100"/>
                </a:spcBef>
                <a:spcAft>
                  <a:spcPts val="0"/>
                </a:spcAft>
                <a:buClr>
                  <a:schemeClr val="lt1"/>
                </a:buClr>
                <a:buFont typeface="Arial"/>
                <a:buNone/>
              </a:pPr>
              <a:r>
                <a:rPr b="1" lang="en-US" sz="3000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跨資料表的完整性限制</a:t>
              </a:r>
              <a:endParaRPr b="1" sz="3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  <a:p>
              <a:pPr indent="0" lvl="0" marL="0" marR="0" rtl="0" algn="l">
                <a:spcBef>
                  <a:spcPts val="1200"/>
                </a:spcBef>
                <a:spcAft>
                  <a:spcPts val="0"/>
                </a:spcAft>
                <a:buNone/>
              </a:pPr>
              <a:r>
                <a:t/>
              </a:r>
              <a:endParaRPr b="1" sz="20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graphicFrame>
        <p:nvGraphicFramePr>
          <p:cNvPr id="398" name="Google Shape;398;p36"/>
          <p:cNvGraphicFramePr/>
          <p:nvPr/>
        </p:nvGraphicFramePr>
        <p:xfrm>
          <a:off x="592125" y="9639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{915020F8-6336-4854-B090-73FCE78F3F99}</a:tableStyleId>
              </a:tblPr>
              <a:tblGrid>
                <a:gridCol w="4757775"/>
                <a:gridCol w="6386800"/>
              </a:tblGrid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2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規則說明</a:t>
                      </a:r>
                      <a:endParaRPr b="1" sz="22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696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22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對應限制</a:t>
                      </a:r>
                      <a:endParaRPr b="1" sz="22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C00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每個使用者必須先登入，才能發出借用申請。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User 資料存在，且 BorrowRequest.user_id 參照 User.user_id。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教室借用必須經過審核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11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，狀態為 Pending 時尚未核准。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BorrowRequest.status 必須在審核後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11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才可變為 Approved / Rejected。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只有 User.role = 'Admin' 的使用者可以核准或拒絕申請。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AuditLog.admin_id 必須對應到 User.role = 'Admin' 的使用者。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使用者只能取消尚未開始的借用。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若系統時間已超過 borrow_date + start_time，則 BorrowRequest.status 不可再變更為 Cancelled。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維修中的教室不可被核准借用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在 INSERT / UPDATE BorrowRequest 時檢查對應 Room.status。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每筆核准或拒絕操作都必須在 AuditLog 中記錄。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00000"/>
                        </a:lnSpc>
                        <a:spcBef>
                          <a:spcPts val="800"/>
                        </a:spcBef>
                        <a:spcAft>
                          <a:spcPts val="1100"/>
                        </a:spcAft>
                        <a:buNone/>
                      </a:pPr>
                      <a:r>
                        <a:rPr b="1" lang="en-US" sz="1600">
                          <a:solidFill>
                            <a:schemeClr val="lt1"/>
                          </a:solidFill>
                          <a:latin typeface="DFKai-SB"/>
                          <a:ea typeface="DFKai-SB"/>
                          <a:cs typeface="DFKai-SB"/>
                          <a:sym typeface="DFKai-SB"/>
                        </a:rPr>
                        <a:t>凡 BorrowRequest.status 從 Pending → Approved 或 Rejected，必須有一筆對應的 AuditLog 資料。</a:t>
                      </a:r>
                      <a:endParaRPr b="1" sz="1600">
                        <a:solidFill>
                          <a:schemeClr val="lt1"/>
                        </a:solidFill>
                        <a:latin typeface="DFKai-SB"/>
                        <a:ea typeface="DFKai-SB"/>
                        <a:cs typeface="DFKai-SB"/>
                        <a:sym typeface="DFKai-SB"/>
                      </a:endParaRPr>
                    </a:p>
                  </a:txBody>
                  <a:tcPr marT="63500" marB="63500" marR="127000" marL="127000">
                    <a:lnL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83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336666"/>
                    </a:solidFill>
                  </a:tcPr>
                </a:tc>
              </a:tr>
            </a:tbl>
          </a:graphicData>
        </a:graphic>
      </p:graphicFrame>
      <p:sp>
        <p:nvSpPr>
          <p:cNvPr id="399" name="Google Shape;399;p36"/>
          <p:cNvSpPr txBox="1"/>
          <p:nvPr>
            <p:ph idx="12" type="sldNum"/>
          </p:nvPr>
        </p:nvSpPr>
        <p:spPr>
          <a:xfrm>
            <a:off x="9241370" y="6337638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4" name="Google Shape;404;p37"/>
          <p:cNvGrpSpPr/>
          <p:nvPr/>
        </p:nvGrpSpPr>
        <p:grpSpPr>
          <a:xfrm flipH="1">
            <a:off x="5388109" y="0"/>
            <a:ext cx="6775449" cy="6894175"/>
            <a:chOff x="0" y="0"/>
            <a:chExt cx="5081587" cy="5170631"/>
          </a:xfrm>
        </p:grpSpPr>
        <p:sp>
          <p:nvSpPr>
            <p:cNvPr id="405" name="Google Shape;405;p37"/>
            <p:cNvSpPr/>
            <p:nvPr/>
          </p:nvSpPr>
          <p:spPr>
            <a:xfrm rot="10800000">
              <a:off x="1337073" y="0"/>
              <a:ext cx="2687240" cy="1493044"/>
            </a:xfrm>
            <a:custGeom>
              <a:rect b="b" l="l" r="r" t="t"/>
              <a:pathLst>
                <a:path extrusionOk="0" h="1991022" w="3582460">
                  <a:moveTo>
                    <a:pt x="3327242" y="1991022"/>
                  </a:moveTo>
                  <a:lnTo>
                    <a:pt x="255219" y="1991022"/>
                  </a:lnTo>
                  <a:lnTo>
                    <a:pt x="0" y="1544164"/>
                  </a:lnTo>
                  <a:lnTo>
                    <a:pt x="881934" y="0"/>
                  </a:lnTo>
                  <a:lnTo>
                    <a:pt x="2700526" y="0"/>
                  </a:lnTo>
                  <a:lnTo>
                    <a:pt x="3582460" y="1544164"/>
                  </a:lnTo>
                  <a:lnTo>
                    <a:pt x="3327242" y="1991022"/>
                  </a:lnTo>
                  <a:close/>
                </a:path>
              </a:pathLst>
            </a:cu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6" name="Google Shape;406;p37"/>
            <p:cNvSpPr/>
            <p:nvPr/>
          </p:nvSpPr>
          <p:spPr>
            <a:xfrm rot="10800000">
              <a:off x="0" y="1493044"/>
              <a:ext cx="1863329" cy="2316956"/>
            </a:xfrm>
            <a:custGeom>
              <a:rect b="b" l="l" r="r" t="t"/>
              <a:pathLst>
                <a:path extrusionOk="0" h="3088328" w="2483870">
                  <a:moveTo>
                    <a:pt x="2483870" y="3088328"/>
                  </a:moveTo>
                  <a:lnTo>
                    <a:pt x="881934" y="3088328"/>
                  </a:lnTo>
                  <a:lnTo>
                    <a:pt x="0" y="1544164"/>
                  </a:lnTo>
                  <a:lnTo>
                    <a:pt x="881934" y="0"/>
                  </a:lnTo>
                  <a:lnTo>
                    <a:pt x="2483870" y="0"/>
                  </a:lnTo>
                  <a:lnTo>
                    <a:pt x="2483870" y="3088328"/>
                  </a:lnTo>
                  <a:close/>
                </a:path>
              </a:pathLst>
            </a:custGeom>
            <a:solidFill>
              <a:srgbClr val="FF696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7" name="Google Shape;407;p37"/>
            <p:cNvSpPr/>
            <p:nvPr/>
          </p:nvSpPr>
          <p:spPr>
            <a:xfrm rot="10800000">
              <a:off x="1549003" y="3115866"/>
              <a:ext cx="3532584" cy="2027634"/>
            </a:xfrm>
            <a:custGeom>
              <a:rect b="b" l="l" r="r" t="t"/>
              <a:pathLst>
                <a:path extrusionOk="0" h="2702918" w="4711161">
                  <a:moveTo>
                    <a:pt x="3551362" y="2702918"/>
                  </a:moveTo>
                  <a:lnTo>
                    <a:pt x="1159799" y="2702918"/>
                  </a:lnTo>
                  <a:lnTo>
                    <a:pt x="0" y="672245"/>
                  </a:lnTo>
                  <a:lnTo>
                    <a:pt x="383946" y="0"/>
                  </a:lnTo>
                  <a:lnTo>
                    <a:pt x="4327215" y="0"/>
                  </a:lnTo>
                  <a:lnTo>
                    <a:pt x="4711161" y="672245"/>
                  </a:lnTo>
                  <a:lnTo>
                    <a:pt x="3551362" y="2702918"/>
                  </a:lnTo>
                  <a:close/>
                </a:path>
              </a:pathLst>
            </a:custGeom>
            <a:solidFill>
              <a:srgbClr val="CCCC33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08" name="Google Shape;408;p37"/>
            <p:cNvSpPr/>
            <p:nvPr/>
          </p:nvSpPr>
          <p:spPr>
            <a:xfrm>
              <a:off x="2431337" y="3177731"/>
              <a:ext cx="1745400" cy="1992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666">
                  <a:solidFill>
                    <a:schemeClr val="lt1"/>
                  </a:solidFill>
                  <a:latin typeface="DFKai-SB"/>
                  <a:ea typeface="DFKai-SB"/>
                  <a:cs typeface="DFKai-SB"/>
                  <a:sym typeface="DFKai-SB"/>
                </a:rPr>
                <a:t>04</a:t>
              </a:r>
              <a:endParaRPr sz="16666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endParaRPr>
            </a:p>
          </p:txBody>
        </p:sp>
      </p:grpSp>
      <p:sp>
        <p:nvSpPr>
          <p:cNvPr id="409" name="Google Shape;409;p37"/>
          <p:cNvSpPr/>
          <p:nvPr/>
        </p:nvSpPr>
        <p:spPr>
          <a:xfrm>
            <a:off x="623392" y="2587625"/>
            <a:ext cx="5255157" cy="5847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ER Diagram</a:t>
            </a:r>
            <a:endParaRPr sz="4400">
              <a:solidFill>
                <a:schemeClr val="lt1"/>
              </a:solidFill>
              <a:latin typeface="DFKai-SB"/>
              <a:ea typeface="DFKai-SB"/>
              <a:cs typeface="DFKai-SB"/>
              <a:sym typeface="DFKai-SB"/>
            </a:endParaRPr>
          </a:p>
        </p:txBody>
      </p:sp>
      <p:cxnSp>
        <p:nvCxnSpPr>
          <p:cNvPr id="410" name="Google Shape;410;p37"/>
          <p:cNvCxnSpPr/>
          <p:nvPr/>
        </p:nvCxnSpPr>
        <p:spPr>
          <a:xfrm>
            <a:off x="3179367" y="1629570"/>
            <a:ext cx="0" cy="3598863"/>
          </a:xfrm>
          <a:prstGeom prst="straightConnector1">
            <a:avLst/>
          </a:prstGeom>
          <a:noFill/>
          <a:ln cap="flat" cmpd="sng" w="12700">
            <a:solidFill>
              <a:srgbClr val="CCCC33"/>
            </a:solidFill>
            <a:prstDash val="solid"/>
            <a:bevel/>
            <a:headEnd len="med" w="med" type="none"/>
            <a:tailEnd len="med" w="med" type="none"/>
          </a:ln>
        </p:spPr>
      </p:cxnSp>
      <p:sp>
        <p:nvSpPr>
          <p:cNvPr id="411" name="Google Shape;411;p37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38"/>
          <p:cNvSpPr/>
          <p:nvPr/>
        </p:nvSpPr>
        <p:spPr>
          <a:xfrm>
            <a:off x="-7081" y="193293"/>
            <a:ext cx="396000" cy="672000"/>
          </a:xfrm>
          <a:prstGeom prst="rect">
            <a:avLst/>
          </a:prstGeom>
          <a:solidFill>
            <a:srgbClr val="CCCC3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38"/>
          <p:cNvSpPr/>
          <p:nvPr/>
        </p:nvSpPr>
        <p:spPr>
          <a:xfrm>
            <a:off x="393500" y="249643"/>
            <a:ext cx="4862100" cy="5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  </a:t>
            </a:r>
            <a:r>
              <a:rPr lang="en-US" sz="3729">
                <a:solidFill>
                  <a:schemeClr val="lt1"/>
                </a:solidFill>
                <a:latin typeface="DFKai-SB"/>
                <a:ea typeface="DFKai-SB"/>
                <a:cs typeface="DFKai-SB"/>
                <a:sym typeface="DFKai-SB"/>
              </a:rPr>
              <a:t>ER diagram</a:t>
            </a:r>
            <a:endParaRPr>
              <a:latin typeface="DFKai-SB"/>
              <a:ea typeface="DFKai-SB"/>
              <a:cs typeface="DFKai-SB"/>
              <a:sym typeface="DFKai-SB"/>
            </a:endParaRPr>
          </a:p>
        </p:txBody>
      </p:sp>
      <p:sp>
        <p:nvSpPr>
          <p:cNvPr id="418" name="Google Shape;418;p38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1800">
              <a:solidFill>
                <a:schemeClr val="lt1"/>
              </a:solidFill>
            </a:endParaRPr>
          </a:p>
        </p:txBody>
      </p:sp>
      <p:pic>
        <p:nvPicPr>
          <p:cNvPr id="419" name="Google Shape;419;p38" title="資料庫系統-ERD.drawio (1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03175" y="1015518"/>
            <a:ext cx="8785652" cy="568790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4" name="Google Shape;424;p39"/>
          <p:cNvCxnSpPr/>
          <p:nvPr/>
        </p:nvCxnSpPr>
        <p:spPr>
          <a:xfrm flipH="1">
            <a:off x="7397751" y="6167438"/>
            <a:ext cx="1284288" cy="677863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425" name="Google Shape;425;p39"/>
          <p:cNvCxnSpPr/>
          <p:nvPr/>
        </p:nvCxnSpPr>
        <p:spPr>
          <a:xfrm rot="10800000">
            <a:off x="0" y="1851026"/>
            <a:ext cx="8634413" cy="4346575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sp>
        <p:nvSpPr>
          <p:cNvPr id="426" name="Google Shape;426;p39"/>
          <p:cNvSpPr/>
          <p:nvPr/>
        </p:nvSpPr>
        <p:spPr>
          <a:xfrm flipH="1" rot="-5400000">
            <a:off x="6394451" y="1695451"/>
            <a:ext cx="4510088" cy="3887788"/>
          </a:xfrm>
          <a:prstGeom prst="hexagon">
            <a:avLst>
              <a:gd fmla="val 25000" name="adj"/>
              <a:gd fmla="val 115470" name="vf"/>
            </a:avLst>
          </a:prstGeom>
          <a:solidFill>
            <a:srgbClr val="FF6969"/>
          </a:solidFill>
          <a:ln>
            <a:noFill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cxnSp>
        <p:nvCxnSpPr>
          <p:cNvPr id="427" name="Google Shape;427;p39"/>
          <p:cNvCxnSpPr/>
          <p:nvPr/>
        </p:nvCxnSpPr>
        <p:spPr>
          <a:xfrm flipH="1">
            <a:off x="6450014" y="0"/>
            <a:ext cx="3175" cy="5064125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428" name="Google Shape;428;p39"/>
          <p:cNvCxnSpPr/>
          <p:nvPr/>
        </p:nvCxnSpPr>
        <p:spPr>
          <a:xfrm flipH="1">
            <a:off x="10831513" y="4662488"/>
            <a:ext cx="1587" cy="2195512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cxnSp>
        <p:nvCxnSpPr>
          <p:cNvPr id="429" name="Google Shape;429;p39"/>
          <p:cNvCxnSpPr/>
          <p:nvPr/>
        </p:nvCxnSpPr>
        <p:spPr>
          <a:xfrm rot="-10740000">
            <a:off x="10452102" y="2016125"/>
            <a:ext cx="1754188" cy="812800"/>
          </a:xfrm>
          <a:prstGeom prst="straightConnector1">
            <a:avLst/>
          </a:prstGeom>
          <a:noFill/>
          <a:ln cap="flat" cmpd="sng" w="22225">
            <a:solidFill>
              <a:schemeClr val="lt1"/>
            </a:solidFill>
            <a:prstDash val="solid"/>
            <a:bevel/>
            <a:headEnd len="med" w="med" type="none"/>
            <a:tailEnd len="med" w="med" type="none"/>
          </a:ln>
          <a:effectLst>
            <a:outerShdw blurRad="50800" rotWithShape="0" algn="t" dir="5400000" dist="38100">
              <a:srgbClr val="000000">
                <a:alpha val="40000"/>
              </a:srgbClr>
            </a:outerShdw>
          </a:effectLst>
        </p:spPr>
      </p:cxnSp>
      <p:sp>
        <p:nvSpPr>
          <p:cNvPr id="430" name="Google Shape;430;p39"/>
          <p:cNvSpPr/>
          <p:nvPr/>
        </p:nvSpPr>
        <p:spPr>
          <a:xfrm flipH="1" rot="-5400000">
            <a:off x="6142833" y="1480344"/>
            <a:ext cx="5010151" cy="4319587"/>
          </a:xfrm>
          <a:prstGeom prst="hexagon">
            <a:avLst>
              <a:gd fmla="val 24996" name="adj"/>
              <a:gd fmla="val 115470" name="vf"/>
            </a:avLst>
          </a:prstGeom>
          <a:noFill/>
          <a:ln cap="flat" cmpd="sng" w="101600">
            <a:solidFill>
              <a:srgbClr val="CCCC33"/>
            </a:solidFill>
            <a:prstDash val="solid"/>
            <a:bevel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FFFFFF"/>
              </a:solidFill>
              <a:latin typeface="SimSun"/>
              <a:ea typeface="SimSun"/>
              <a:cs typeface="SimSun"/>
              <a:sym typeface="SimSun"/>
            </a:endParaRPr>
          </a:p>
        </p:txBody>
      </p:sp>
      <p:sp>
        <p:nvSpPr>
          <p:cNvPr id="431" name="Google Shape;431;p39"/>
          <p:cNvSpPr/>
          <p:nvPr/>
        </p:nvSpPr>
        <p:spPr>
          <a:xfrm flipH="1">
            <a:off x="6842203" y="2977696"/>
            <a:ext cx="3751200" cy="13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0">
                <a:solidFill>
                  <a:schemeClr val="lt1"/>
                </a:solidFill>
                <a:latin typeface="Teko"/>
                <a:ea typeface="Teko"/>
                <a:cs typeface="Teko"/>
                <a:sym typeface="Teko"/>
              </a:rPr>
              <a:t>THANK YOU</a:t>
            </a:r>
            <a:endParaRPr sz="8000">
              <a:solidFill>
                <a:schemeClr val="lt1"/>
              </a:solidFill>
              <a:latin typeface="Teko"/>
              <a:ea typeface="Teko"/>
              <a:cs typeface="Teko"/>
              <a:sym typeface="Teko"/>
            </a:endParaRPr>
          </a:p>
        </p:txBody>
      </p:sp>
      <p:sp>
        <p:nvSpPr>
          <p:cNvPr id="432" name="Google Shape;432;p39"/>
          <p:cNvSpPr/>
          <p:nvPr/>
        </p:nvSpPr>
        <p:spPr>
          <a:xfrm rot="1627689">
            <a:off x="806213" y="2671330"/>
            <a:ext cx="5104539" cy="748988"/>
          </a:xfrm>
          <a:prstGeom prst="rect">
            <a:avLst/>
          </a:prstGeom>
          <a:noFill/>
          <a:ln>
            <a:noFill/>
          </a:ln>
          <a:effectLst>
            <a:outerShdw blurRad="50800" rotWithShape="0" algn="tr" dir="8100000" dist="38100">
              <a:srgbClr val="000000">
                <a:alpha val="40000"/>
              </a:srgbClr>
            </a:outerShdw>
          </a:effectLst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267">
              <a:solidFill>
                <a:schemeClr val="lt1"/>
              </a:solidFill>
              <a:latin typeface="Microsoft Yahei"/>
              <a:ea typeface="Microsoft Yahei"/>
              <a:cs typeface="Microsoft Yahei"/>
              <a:sym typeface="Microsoft Yahei"/>
            </a:endParaRPr>
          </a:p>
        </p:txBody>
      </p:sp>
      <p:sp>
        <p:nvSpPr>
          <p:cNvPr id="433" name="Google Shape;433;p39"/>
          <p:cNvSpPr txBox="1"/>
          <p:nvPr>
            <p:ph idx="12" type="sldNum"/>
          </p:nvPr>
        </p:nvSpPr>
        <p:spPr>
          <a:xfrm>
            <a:off x="9227450" y="6338325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sz="1800">
                <a:solidFill>
                  <a:schemeClr val="lt1"/>
                </a:solidFill>
              </a:rPr>
              <a:t>‹#›</a:t>
            </a:fld>
            <a:endParaRPr sz="2467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