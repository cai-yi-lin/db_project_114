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embeddedFontLst>
    <p:embeddedFont>
      <p:font typeface="Microsoft Yahei" panose="020B0503020204020204" pitchFamily="34" charset="-122"/>
      <p:regular r:id="rId31"/>
      <p:bold r:id="rId32"/>
    </p:embeddedFont>
    <p:embeddedFont>
      <p:font typeface="Microsoft JhengHei" panose="020B0604030504040204" pitchFamily="34" charset="-120"/>
      <p:regular r:id="rId33"/>
      <p:bold r:id="rId34"/>
    </p:embeddedFont>
    <p:embeddedFont>
      <p:font typeface="DFKai-SB" panose="03000509000000000000" pitchFamily="65" charset="-120"/>
      <p:regular r:id="rId35"/>
    </p:embeddedFont>
    <p:embeddedFont>
      <p:font typeface="Impact" panose="020B0806030902050204" pitchFamily="34" charset="0"/>
      <p:regular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j01dlqnVxa+PqcF3pJTxJzMd2z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E49999-C5E0-4CD2-8454-8D5F01229A2C}">
  <a:tblStyle styleId="{E0E49999-C5E0-4CD2-8454-8D5F01229A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c94fa5b0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ec94fa5b08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ec94fa5b08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c94fa5b0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ec94fa5b08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c94fa5b08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c94fa5b0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ec94fa5b08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ec94fa5b08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c94fa5b08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c94fa5b08_0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c94fa5b08_0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c94fa5b08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3ec94fa5b08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ec94fa5b08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c94fa5b08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g3ec94fa5b08_0_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ec94fa5b08_0_1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c94fa5b08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ec94fa5b08_0_2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ec94fa5b08_0_2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c94fa5b08_6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ec94fa5b08_6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ec94fa5b08_6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c94fa5b08_6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3ec94fa5b08_6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ec94fa5b08_6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c94fa5b08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ec94fa5b08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ec94fa5b08_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c94fa5b08_6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ec94fa5b08_6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ec94fa5b08_6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c94fa5b08_6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c94fa5b08_6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ec94fa5b08_6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ec94fa5b08_6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ec94fa5b08_6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3ec94fa5b08_6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c94fa5b08_6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ec94fa5b08_6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3ec94fa5b08_6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c94fa5b08_6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ec94fa5b08_6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ec94fa5b08_6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c94fa5b08_6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ec94fa5b08_6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ec94fa5b08_6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c94fa5b08_6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ec94fa5b08_6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3ec94fa5b08_6_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c94fa5b08_6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ec94fa5b08_6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g3ec94fa5b08_6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c94fa5b08_6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ec94fa5b08_6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g3ec94fa5b08_6_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c94fa5b08_6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ec94fa5b08_6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3ec94fa5b08_6_1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c94fa5b08_1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ec94fa5b08_14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3ec94fa5b08_14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c94fa5b08_14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ec94fa5b08_14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g3ec94fa5b08_14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c94fa5b08_6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ec94fa5b08_6_1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3ec94fa5b08_6_1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ec94fa5b08_7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ec94fa5b08_7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g3ec94fa5b08_7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ec94fa5b08_14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g3ec94fa5b08_14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g3ec94fa5b08_14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sieoffice1.nfu.edu.tw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hare.google/Jgz627iK0832tkNwJ" TargetMode="External"/><Relationship Id="rId5" Type="http://schemas.openxmlformats.org/officeDocument/2006/relationships/hyperlink" Target="https://share.google/7nEjYTNkDw13sQput" TargetMode="External"/><Relationship Id="rId4" Type="http://schemas.openxmlformats.org/officeDocument/2006/relationships/hyperlink" Target="https://share.google/43ZdNW1RVkHCTsGi8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vian1060290/DB_project_114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3676275" y="1190100"/>
            <a:ext cx="8109300" cy="12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SzPts val="1100"/>
              <a:buNone/>
            </a:pPr>
            <a:r>
              <a:rPr lang="zh-CN" sz="77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教室借用管理系統</a:t>
            </a:r>
            <a:endParaRPr sz="9400" b="1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171400" y="3234000"/>
            <a:ext cx="6922800" cy="26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zh-CN" sz="25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班級:四資工三甲</a:t>
            </a:r>
            <a:endParaRPr sz="25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zh-CN" sz="25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組別:第三組</a:t>
            </a:r>
            <a:endParaRPr sz="25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zh-CN" sz="25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組員: 41243101 伍翊瑄  41243103 林采儀</a:t>
            </a:r>
            <a:endParaRPr sz="25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zh-CN" sz="25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41243104 范芷紜  41243107 潘怡潔</a:t>
            </a:r>
            <a:endParaRPr sz="33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681564" y="669704"/>
            <a:ext cx="2031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>
                <a:solidFill>
                  <a:srgbClr val="113F4E"/>
                </a:solidFill>
                <a:latin typeface="DFKai-SB"/>
                <a:ea typeface="DFKai-SB"/>
                <a:cs typeface="DFKai-SB"/>
                <a:sym typeface="DFKai-SB"/>
              </a:rPr>
              <a:t>目錄</a:t>
            </a:r>
            <a:endParaRPr sz="6000">
              <a:latin typeface="DFKai-SB"/>
              <a:ea typeface="DFKai-SB"/>
              <a:cs typeface="DFKai-SB"/>
              <a:sym typeface="DFKai-SB"/>
            </a:endParaRPr>
          </a:p>
        </p:txBody>
      </p:sp>
      <p:cxnSp>
        <p:nvCxnSpPr>
          <p:cNvPr id="98" name="Google Shape;98;p2"/>
          <p:cNvCxnSpPr/>
          <p:nvPr/>
        </p:nvCxnSpPr>
        <p:spPr>
          <a:xfrm rot="10800000" flipH="1">
            <a:off x="681565" y="1708473"/>
            <a:ext cx="1812600" cy="25800"/>
          </a:xfrm>
          <a:prstGeom prst="straightConnector1">
            <a:avLst/>
          </a:prstGeom>
          <a:noFill/>
          <a:ln w="28575" cap="rnd" cmpd="sng">
            <a:solidFill>
              <a:srgbClr val="55C0A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9" name="Google Shape;99;p2"/>
          <p:cNvGrpSpPr/>
          <p:nvPr/>
        </p:nvGrpSpPr>
        <p:grpSpPr>
          <a:xfrm>
            <a:off x="936129" y="2778425"/>
            <a:ext cx="5527245" cy="944700"/>
            <a:chOff x="956666" y="3447849"/>
            <a:chExt cx="4647087" cy="622373"/>
          </a:xfrm>
        </p:grpSpPr>
        <p:sp>
          <p:nvSpPr>
            <p:cNvPr id="100" name="Google Shape;100;p2"/>
            <p:cNvSpPr txBox="1"/>
            <p:nvPr/>
          </p:nvSpPr>
          <p:spPr>
            <a:xfrm>
              <a:off x="1581053" y="3447849"/>
              <a:ext cx="40227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775" tIns="69375" rIns="138775" bIns="693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應用情境與使用案例</a:t>
              </a:r>
              <a:endParaRPr sz="36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56666" y="3498086"/>
              <a:ext cx="448664" cy="448662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138775" tIns="69375" rIns="138775" bIns="693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32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176679" y="3689818"/>
              <a:ext cx="380404" cy="380404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138775" tIns="69375" rIns="138775" bIns="693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32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</a:t>
              </a:r>
              <a:endParaRPr sz="2732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6727068" y="2778432"/>
            <a:ext cx="4073909" cy="944692"/>
            <a:chOff x="956666" y="3447854"/>
            <a:chExt cx="3425180" cy="622368"/>
          </a:xfrm>
        </p:grpSpPr>
        <p:sp>
          <p:nvSpPr>
            <p:cNvPr id="104" name="Google Shape;104;p2"/>
            <p:cNvSpPr txBox="1"/>
            <p:nvPr/>
          </p:nvSpPr>
          <p:spPr>
            <a:xfrm>
              <a:off x="1581046" y="3447854"/>
              <a:ext cx="28008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775" tIns="69375" rIns="138775" bIns="693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系統需求說明</a:t>
              </a:r>
              <a:endParaRPr sz="36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956666" y="3498086"/>
              <a:ext cx="448664" cy="448662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138775" tIns="69375" rIns="138775" bIns="693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32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76679" y="3689818"/>
              <a:ext cx="380404" cy="380404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138775" tIns="69375" rIns="138775" bIns="693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32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</a:t>
              </a:r>
              <a:endParaRPr sz="2732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6727066" y="4750154"/>
            <a:ext cx="4073909" cy="944692"/>
            <a:chOff x="956666" y="3447854"/>
            <a:chExt cx="3425180" cy="622368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1581046" y="3447854"/>
              <a:ext cx="28008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775" tIns="69375" rIns="138775" bIns="693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完整性限制</a:t>
              </a:r>
              <a:endParaRPr sz="36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956666" y="3498086"/>
              <a:ext cx="448664" cy="448662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138775" tIns="69375" rIns="138775" bIns="693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32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76679" y="3689818"/>
              <a:ext cx="380404" cy="380404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138775" tIns="69375" rIns="138775" bIns="693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32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4</a:t>
              </a:r>
              <a:endParaRPr sz="2732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936118" y="4767275"/>
            <a:ext cx="4073909" cy="944692"/>
            <a:chOff x="956666" y="3447854"/>
            <a:chExt cx="3425180" cy="622368"/>
          </a:xfrm>
        </p:grpSpPr>
        <p:sp>
          <p:nvSpPr>
            <p:cNvPr id="112" name="Google Shape;112;p2"/>
            <p:cNvSpPr txBox="1"/>
            <p:nvPr/>
          </p:nvSpPr>
          <p:spPr>
            <a:xfrm>
              <a:off x="1581046" y="3447854"/>
              <a:ext cx="28008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775" tIns="69375" rIns="138775" bIns="693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ER Diagram</a:t>
              </a:r>
              <a:endParaRPr sz="36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956666" y="3498086"/>
              <a:ext cx="448664" cy="448662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138775" tIns="69375" rIns="138775" bIns="693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32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76679" y="3689818"/>
              <a:ext cx="380404" cy="380404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138775" tIns="69375" rIns="138775" bIns="693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32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</a:t>
              </a:r>
              <a:endParaRPr sz="2732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15" name="Google Shape;115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6262775" y="4224963"/>
            <a:ext cx="5544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應用情境與使用案例</a:t>
            </a:r>
            <a:endParaRPr sz="46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122" name="Google Shape;122;p3"/>
          <p:cNvGrpSpPr/>
          <p:nvPr/>
        </p:nvGrpSpPr>
        <p:grpSpPr>
          <a:xfrm>
            <a:off x="4669564" y="3890850"/>
            <a:ext cx="1126328" cy="1243276"/>
            <a:chOff x="589078" y="2173649"/>
            <a:chExt cx="1126328" cy="1243276"/>
          </a:xfrm>
        </p:grpSpPr>
        <p:grpSp>
          <p:nvGrpSpPr>
            <p:cNvPr id="123" name="Google Shape;123;p3"/>
            <p:cNvGrpSpPr/>
            <p:nvPr/>
          </p:nvGrpSpPr>
          <p:grpSpPr>
            <a:xfrm>
              <a:off x="589078" y="2173649"/>
              <a:ext cx="1126328" cy="1243276"/>
              <a:chOff x="1950418" y="3368985"/>
              <a:chExt cx="432211" cy="477089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1950418" y="3368985"/>
                <a:ext cx="353961" cy="35396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125" name="Google Shape;125;p3"/>
              <p:cNvSpPr/>
              <p:nvPr/>
            </p:nvSpPr>
            <p:spPr>
              <a:xfrm>
                <a:off x="2082519" y="3545965"/>
                <a:ext cx="300110" cy="300109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126" name="Google Shape;126;p3"/>
            <p:cNvSpPr txBox="1"/>
            <p:nvPr/>
          </p:nvSpPr>
          <p:spPr>
            <a:xfrm>
              <a:off x="907668" y="2220553"/>
              <a:ext cx="611065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5400" b="1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</a:t>
              </a:r>
              <a:endParaRPr sz="5400" b="1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g3ec94fa5b08_0_2"/>
          <p:cNvGrpSpPr/>
          <p:nvPr/>
        </p:nvGrpSpPr>
        <p:grpSpPr>
          <a:xfrm>
            <a:off x="509695" y="295974"/>
            <a:ext cx="3425180" cy="712500"/>
            <a:chOff x="956666" y="3447854"/>
            <a:chExt cx="3425180" cy="712500"/>
          </a:xfrm>
        </p:grpSpPr>
        <p:sp>
          <p:nvSpPr>
            <p:cNvPr id="134" name="Google Shape;134;g3ec94fa5b08_0_2"/>
            <p:cNvSpPr txBox="1"/>
            <p:nvPr/>
          </p:nvSpPr>
          <p:spPr>
            <a:xfrm>
              <a:off x="1581046" y="3447854"/>
              <a:ext cx="2800800" cy="7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5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4029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應用情境</a:t>
              </a:r>
              <a:endParaRPr sz="28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5" name="Google Shape;135;g3ec94fa5b08_0_2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6" name="Google Shape;136;g3ec94fa5b08_0_2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37" name="Google Shape;137;g3ec94fa5b08_0_2"/>
          <p:cNvSpPr/>
          <p:nvPr/>
        </p:nvSpPr>
        <p:spPr>
          <a:xfrm>
            <a:off x="1642975" y="1574469"/>
            <a:ext cx="1063800" cy="10638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38" name="Google Shape;138;g3ec94fa5b08_0_2"/>
          <p:cNvGrpSpPr/>
          <p:nvPr/>
        </p:nvGrpSpPr>
        <p:grpSpPr>
          <a:xfrm>
            <a:off x="2398501" y="1574500"/>
            <a:ext cx="9048856" cy="1236827"/>
            <a:chOff x="6183501" y="2146578"/>
            <a:chExt cx="5627398" cy="769171"/>
          </a:xfrm>
        </p:grpSpPr>
        <p:sp>
          <p:nvSpPr>
            <p:cNvPr id="139" name="Google Shape;139;g3ec94fa5b08_0_2"/>
            <p:cNvSpPr txBox="1"/>
            <p:nvPr/>
          </p:nvSpPr>
          <p:spPr>
            <a:xfrm>
              <a:off x="6183501" y="2146578"/>
              <a:ext cx="1457100" cy="5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zh-CN" sz="3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學生</a:t>
              </a:r>
              <a:endParaRPr sz="3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</a:endParaRPr>
            </a:p>
          </p:txBody>
        </p:sp>
        <p:sp>
          <p:nvSpPr>
            <p:cNvPr id="140" name="Google Shape;140;g3ec94fa5b08_0_2"/>
            <p:cNvSpPr/>
            <p:nvPr/>
          </p:nvSpPr>
          <p:spPr>
            <a:xfrm>
              <a:off x="6568699" y="2456449"/>
              <a:ext cx="52422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23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需要進行小組討論、專題製作或活動練習時，可透過系統查詢教室空閒時段，並提出借用申請，經審核通過後即可使用，避免找不到空間或人工登記錯誤的問題。</a:t>
              </a:r>
              <a:endParaRPr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41" name="Google Shape;141;g3ec94fa5b08_0_2"/>
          <p:cNvSpPr/>
          <p:nvPr/>
        </p:nvSpPr>
        <p:spPr>
          <a:xfrm>
            <a:off x="1642968" y="3572634"/>
            <a:ext cx="1063800" cy="10638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42" name="Google Shape;142;g3ec94fa5b08_0_2"/>
          <p:cNvGrpSpPr/>
          <p:nvPr/>
        </p:nvGrpSpPr>
        <p:grpSpPr>
          <a:xfrm>
            <a:off x="2517500" y="3231825"/>
            <a:ext cx="9052432" cy="2013153"/>
            <a:chOff x="7100969" y="3612228"/>
            <a:chExt cx="5629622" cy="1251961"/>
          </a:xfrm>
        </p:grpSpPr>
        <p:sp>
          <p:nvSpPr>
            <p:cNvPr id="143" name="Google Shape;143;g3ec94fa5b08_0_2"/>
            <p:cNvSpPr txBox="1"/>
            <p:nvPr/>
          </p:nvSpPr>
          <p:spPr>
            <a:xfrm>
              <a:off x="7100969" y="3612228"/>
              <a:ext cx="1394400" cy="5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zh-CN" sz="3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老師</a:t>
              </a:r>
              <a:endParaRPr sz="3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</a:endParaRPr>
            </a:p>
          </p:txBody>
        </p:sp>
        <p:sp>
          <p:nvSpPr>
            <p:cNvPr id="144" name="Google Shape;144;g3ec94fa5b08_0_2"/>
            <p:cNvSpPr/>
            <p:nvPr/>
          </p:nvSpPr>
          <p:spPr>
            <a:xfrm>
              <a:off x="7488391" y="3981289"/>
              <a:ext cx="5242200" cy="88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zh-CN" sz="23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需要進行補課、課程延伸討論或舉辦小型教學活動時，可透過系統即時查詢教室使用狀態，並線上申請借用教室，以確保教學活動順利進行且不與其他課程衝突。</a:t>
              </a:r>
              <a:endParaRPr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45" name="Google Shape;145;g3ec94fa5b08_0_2"/>
          <p:cNvSpPr/>
          <p:nvPr/>
        </p:nvSpPr>
        <p:spPr>
          <a:xfrm>
            <a:off x="1690378" y="5214416"/>
            <a:ext cx="1063800" cy="10638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46" name="Google Shape;146;g3ec94fa5b08_0_2"/>
          <p:cNvGrpSpPr/>
          <p:nvPr/>
        </p:nvGrpSpPr>
        <p:grpSpPr>
          <a:xfrm>
            <a:off x="2706775" y="5081475"/>
            <a:ext cx="8722083" cy="1329704"/>
            <a:chOff x="6386712" y="4859089"/>
            <a:chExt cx="5424181" cy="826931"/>
          </a:xfrm>
        </p:grpSpPr>
        <p:sp>
          <p:nvSpPr>
            <p:cNvPr id="147" name="Google Shape;147;g3ec94fa5b08_0_2"/>
            <p:cNvSpPr txBox="1"/>
            <p:nvPr/>
          </p:nvSpPr>
          <p:spPr>
            <a:xfrm>
              <a:off x="6386712" y="4859089"/>
              <a:ext cx="1254000" cy="5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zh-CN" sz="33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管理者</a:t>
              </a:r>
              <a:endParaRPr sz="33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</a:endParaRPr>
            </a:p>
          </p:txBody>
        </p:sp>
        <p:sp>
          <p:nvSpPr>
            <p:cNvPr id="148" name="Google Shape;148;g3ec94fa5b08_0_2"/>
            <p:cNvSpPr/>
            <p:nvPr/>
          </p:nvSpPr>
          <p:spPr>
            <a:xfrm>
              <a:off x="6568693" y="5226720"/>
              <a:ext cx="52422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zh-CN" sz="23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負責審核所有教室借用申請，確認借用時間與用途是否合理，並管理教室使用狀態與借用紀錄，進行教室資源調度。</a:t>
              </a:r>
              <a:endParaRPr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49" name="Google Shape;149;g3ec94fa5b08_0_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g3ec94fa5b08_0_28"/>
          <p:cNvGrpSpPr/>
          <p:nvPr/>
        </p:nvGrpSpPr>
        <p:grpSpPr>
          <a:xfrm>
            <a:off x="509695" y="295974"/>
            <a:ext cx="3425180" cy="712500"/>
            <a:chOff x="956666" y="3447854"/>
            <a:chExt cx="3425180" cy="712500"/>
          </a:xfrm>
        </p:grpSpPr>
        <p:sp>
          <p:nvSpPr>
            <p:cNvPr id="156" name="Google Shape;156;g3ec94fa5b08_0_28"/>
            <p:cNvSpPr txBox="1"/>
            <p:nvPr/>
          </p:nvSpPr>
          <p:spPr>
            <a:xfrm>
              <a:off x="1581046" y="3447854"/>
              <a:ext cx="2800800" cy="7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5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4029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使用案例</a:t>
              </a:r>
              <a:endParaRPr sz="28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57" name="Google Shape;157;g3ec94fa5b08_0_28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58" name="Google Shape;158;g3ec94fa5b08_0_28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59" name="Google Shape;159;g3ec94fa5b08_0_28"/>
          <p:cNvSpPr/>
          <p:nvPr/>
        </p:nvSpPr>
        <p:spPr>
          <a:xfrm>
            <a:off x="4063174" y="2003528"/>
            <a:ext cx="3687346" cy="3656044"/>
          </a:xfrm>
          <a:custGeom>
            <a:avLst/>
            <a:gdLst/>
            <a:ahLst/>
            <a:cxnLst/>
            <a:rect l="l" t="t" r="r" b="b"/>
            <a:pathLst>
              <a:path w="2504140" h="2504140" extrusionOk="0">
                <a:moveTo>
                  <a:pt x="0" y="1252070"/>
                </a:moveTo>
                <a:cubicBezTo>
                  <a:pt x="0" y="560571"/>
                  <a:pt x="560571" y="0"/>
                  <a:pt x="1252070" y="0"/>
                </a:cubicBezTo>
                <a:cubicBezTo>
                  <a:pt x="1943569" y="0"/>
                  <a:pt x="2504140" y="560571"/>
                  <a:pt x="2504140" y="1252070"/>
                </a:cubicBezTo>
                <a:cubicBezTo>
                  <a:pt x="2504140" y="1943569"/>
                  <a:pt x="1943569" y="2504140"/>
                  <a:pt x="1252070" y="2504140"/>
                </a:cubicBezTo>
                <a:cubicBezTo>
                  <a:pt x="560571" y="2504140"/>
                  <a:pt x="0" y="1943569"/>
                  <a:pt x="0" y="1252070"/>
                </a:cubicBezTo>
                <a:close/>
              </a:path>
            </a:pathLst>
          </a:custGeom>
          <a:solidFill>
            <a:srgbClr val="113F4E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37825" tIns="437825" rIns="437825" bIns="4378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6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0" name="Google Shape;160;g3ec94fa5b08_0_28"/>
          <p:cNvSpPr txBox="1"/>
          <p:nvPr/>
        </p:nvSpPr>
        <p:spPr>
          <a:xfrm>
            <a:off x="4621061" y="2731000"/>
            <a:ext cx="2474100" cy="2201100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34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一般使用者</a:t>
            </a:r>
            <a:endParaRPr sz="34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34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學生/教師</a:t>
            </a:r>
            <a:endParaRPr sz="34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g3ec94fa5b08_0_28"/>
          <p:cNvSpPr/>
          <p:nvPr/>
        </p:nvSpPr>
        <p:spPr>
          <a:xfrm>
            <a:off x="549400" y="1880714"/>
            <a:ext cx="392100" cy="3921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2" name="Google Shape;162;g3ec94fa5b08_0_28"/>
          <p:cNvSpPr txBox="1"/>
          <p:nvPr/>
        </p:nvSpPr>
        <p:spPr>
          <a:xfrm>
            <a:off x="549400" y="2666600"/>
            <a:ext cx="42609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FKai-SB"/>
              <a:buChar char="●"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輸入：日期、時間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、設備需求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FKai-SB"/>
              <a:buChar char="●"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輸出：可用教室清單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      、人數限制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3" name="Google Shape;163;g3ec94fa5b08_0_28"/>
          <p:cNvSpPr/>
          <p:nvPr/>
        </p:nvSpPr>
        <p:spPr>
          <a:xfrm>
            <a:off x="409950" y="4353072"/>
            <a:ext cx="392100" cy="3921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4" name="Google Shape;164;g3ec94fa5b08_0_28"/>
          <p:cNvSpPr txBox="1"/>
          <p:nvPr/>
        </p:nvSpPr>
        <p:spPr>
          <a:xfrm>
            <a:off x="370250" y="4981200"/>
            <a:ext cx="4260900" cy="20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FKai-SB"/>
              <a:buChar char="●"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條件：借用尚未開始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  （還未到借用日期與時間）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FKai-SB"/>
              <a:buChar char="●"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只有申請人本人可以取消尚未開始的借用申請，管理員不可代替使用者取消借用。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5" name="Google Shape;165;g3ec94fa5b08_0_28"/>
          <p:cNvSpPr/>
          <p:nvPr/>
        </p:nvSpPr>
        <p:spPr>
          <a:xfrm>
            <a:off x="7547408" y="1880714"/>
            <a:ext cx="392100" cy="3921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6" name="Google Shape;166;g3ec94fa5b08_0_28"/>
          <p:cNvSpPr txBox="1"/>
          <p:nvPr/>
        </p:nvSpPr>
        <p:spPr>
          <a:xfrm>
            <a:off x="7750525" y="2543800"/>
            <a:ext cx="41217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FKai-SB"/>
              <a:buChar char="●"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輸入：時間、教室代號、申請人資訊（姓名、電話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等）、用途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FKai-SB"/>
              <a:buChar char="●"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系統自動檢查是否有時間衝突（衝堂）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7" name="Google Shape;167;g3ec94fa5b08_0_28"/>
          <p:cNvSpPr/>
          <p:nvPr/>
        </p:nvSpPr>
        <p:spPr>
          <a:xfrm>
            <a:off x="7616108" y="4622135"/>
            <a:ext cx="392100" cy="3921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8" name="Google Shape;168;g3ec94fa5b08_0_28"/>
          <p:cNvSpPr txBox="1"/>
          <p:nvPr/>
        </p:nvSpPr>
        <p:spPr>
          <a:xfrm>
            <a:off x="7750525" y="5268875"/>
            <a:ext cx="3687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DFKai-SB"/>
              <a:buChar char="●"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查詢個人或特定教室的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3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歷史借用紀錄</a:t>
            </a:r>
            <a:endParaRPr sz="23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9" name="Google Shape;169;g3ec94fa5b08_0_28"/>
          <p:cNvSpPr txBox="1"/>
          <p:nvPr/>
        </p:nvSpPr>
        <p:spPr>
          <a:xfrm>
            <a:off x="899450" y="1753525"/>
            <a:ext cx="264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1.查詢教室</a:t>
            </a:r>
            <a:endParaRPr sz="30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0" name="Google Shape;170;g3ec94fa5b08_0_28"/>
          <p:cNvSpPr txBox="1"/>
          <p:nvPr/>
        </p:nvSpPr>
        <p:spPr>
          <a:xfrm>
            <a:off x="906273" y="4225875"/>
            <a:ext cx="255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3.取消借用</a:t>
            </a:r>
            <a:endParaRPr sz="30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1" name="Google Shape;171;g3ec94fa5b08_0_28"/>
          <p:cNvSpPr txBox="1"/>
          <p:nvPr/>
        </p:nvSpPr>
        <p:spPr>
          <a:xfrm>
            <a:off x="7830400" y="17535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2.申請借用教室</a:t>
            </a:r>
            <a:endParaRPr sz="30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2" name="Google Shape;172;g3ec94fa5b08_0_28"/>
          <p:cNvSpPr txBox="1"/>
          <p:nvPr/>
        </p:nvSpPr>
        <p:spPr>
          <a:xfrm>
            <a:off x="8094163" y="44949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4.查看借用紀錄</a:t>
            </a:r>
            <a:endParaRPr sz="30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3" name="Google Shape;173;g3ec94fa5b08_0_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g3ec94fa5b08_0_58"/>
          <p:cNvGrpSpPr/>
          <p:nvPr/>
        </p:nvGrpSpPr>
        <p:grpSpPr>
          <a:xfrm>
            <a:off x="509695" y="295974"/>
            <a:ext cx="3425180" cy="712500"/>
            <a:chOff x="956666" y="3447854"/>
            <a:chExt cx="3425180" cy="712500"/>
          </a:xfrm>
        </p:grpSpPr>
        <p:sp>
          <p:nvSpPr>
            <p:cNvPr id="180" name="Google Shape;180;g3ec94fa5b08_0_58"/>
            <p:cNvSpPr txBox="1"/>
            <p:nvPr/>
          </p:nvSpPr>
          <p:spPr>
            <a:xfrm>
              <a:off x="1581046" y="3447854"/>
              <a:ext cx="2800800" cy="7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5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4029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使用案例</a:t>
              </a:r>
              <a:endParaRPr sz="28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1" name="Google Shape;181;g3ec94fa5b08_0_58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2" name="Google Shape;182;g3ec94fa5b08_0_58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183" name="Google Shape;183;g3ec94fa5b08_0_58"/>
          <p:cNvSpPr/>
          <p:nvPr/>
        </p:nvSpPr>
        <p:spPr>
          <a:xfrm>
            <a:off x="4063174" y="2003528"/>
            <a:ext cx="3687346" cy="3656044"/>
          </a:xfrm>
          <a:custGeom>
            <a:avLst/>
            <a:gdLst/>
            <a:ahLst/>
            <a:cxnLst/>
            <a:rect l="l" t="t" r="r" b="b"/>
            <a:pathLst>
              <a:path w="2504140" h="2504140" extrusionOk="0">
                <a:moveTo>
                  <a:pt x="0" y="1252070"/>
                </a:moveTo>
                <a:cubicBezTo>
                  <a:pt x="0" y="560571"/>
                  <a:pt x="560571" y="0"/>
                  <a:pt x="1252070" y="0"/>
                </a:cubicBezTo>
                <a:cubicBezTo>
                  <a:pt x="1943569" y="0"/>
                  <a:pt x="2504140" y="560571"/>
                  <a:pt x="2504140" y="1252070"/>
                </a:cubicBezTo>
                <a:cubicBezTo>
                  <a:pt x="2504140" y="1943569"/>
                  <a:pt x="1943569" y="2504140"/>
                  <a:pt x="1252070" y="2504140"/>
                </a:cubicBezTo>
                <a:cubicBezTo>
                  <a:pt x="560571" y="2504140"/>
                  <a:pt x="0" y="1943569"/>
                  <a:pt x="0" y="1252070"/>
                </a:cubicBezTo>
                <a:close/>
              </a:path>
            </a:pathLst>
          </a:custGeom>
          <a:solidFill>
            <a:srgbClr val="113F4E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37825" tIns="437825" rIns="437825" bIns="4378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6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84" name="Google Shape;184;g3ec94fa5b08_0_58"/>
          <p:cNvSpPr txBox="1"/>
          <p:nvPr/>
        </p:nvSpPr>
        <p:spPr>
          <a:xfrm>
            <a:off x="4621061" y="2630950"/>
            <a:ext cx="2474100" cy="2401200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35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管理者</a:t>
            </a:r>
            <a:endParaRPr sz="35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sz="35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 sz="35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35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 (Admin)</a:t>
            </a:r>
            <a:endParaRPr sz="35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85" name="Google Shape;185;g3ec94fa5b08_0_58"/>
          <p:cNvSpPr/>
          <p:nvPr/>
        </p:nvSpPr>
        <p:spPr>
          <a:xfrm>
            <a:off x="447975" y="2465214"/>
            <a:ext cx="392100" cy="3921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86" name="Google Shape;186;g3ec94fa5b08_0_58"/>
          <p:cNvSpPr txBox="1"/>
          <p:nvPr/>
        </p:nvSpPr>
        <p:spPr>
          <a:xfrm>
            <a:off x="638075" y="3145075"/>
            <a:ext cx="3425100" cy="327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狀態流程：</a:t>
            </a:r>
            <a:endParaRPr sz="23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254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 panose="020B0604020202020204" pitchFamily="34" charset="0"/>
              <a:buChar char="•"/>
            </a:pPr>
            <a:r>
              <a:rPr lang="zh-CN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Pending</a:t>
            </a:r>
            <a:r>
              <a:rPr lang="zh-CN" sz="23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（審核中）</a:t>
            </a:r>
            <a:endParaRPr sz="23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254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 panose="020B0604020202020204" pitchFamily="34" charset="0"/>
              <a:buChar char="•"/>
            </a:pPr>
            <a:r>
              <a:rPr lang="zh-CN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Approved</a:t>
            </a:r>
            <a:r>
              <a:rPr lang="zh-CN" sz="23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（核准）</a:t>
            </a:r>
            <a:endParaRPr sz="23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254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 panose="020B0604020202020204" pitchFamily="34" charset="0"/>
              <a:buChar char="•"/>
            </a:pPr>
            <a:r>
              <a:rPr lang="zh-CN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Rejected</a:t>
            </a:r>
            <a:r>
              <a:rPr lang="zh-CN" sz="23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（拒絕</a:t>
            </a:r>
            <a:endParaRPr sz="23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   ，須填寫拒絕原因）</a:t>
            </a:r>
            <a:endParaRPr sz="23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87" name="Google Shape;187;g3ec94fa5b08_0_58"/>
          <p:cNvSpPr/>
          <p:nvPr/>
        </p:nvSpPr>
        <p:spPr>
          <a:xfrm>
            <a:off x="7546858" y="2465214"/>
            <a:ext cx="392100" cy="3921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88" name="Google Shape;188;g3ec94fa5b08_0_58"/>
          <p:cNvSpPr txBox="1"/>
          <p:nvPr/>
        </p:nvSpPr>
        <p:spPr>
          <a:xfrm>
            <a:off x="7938950" y="3128300"/>
            <a:ext cx="4391700" cy="274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254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 panose="020B0604020202020204" pitchFamily="34" charset="0"/>
              <a:buChar char="•"/>
            </a:pPr>
            <a:r>
              <a:rPr lang="zh-CN" sz="23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新增教室 / 設備</a:t>
            </a:r>
            <a:endParaRPr sz="23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254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 panose="020B0604020202020204" pitchFamily="34" charset="0"/>
              <a:buChar char="•"/>
            </a:pPr>
            <a:r>
              <a:rPr lang="zh-CN" sz="23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停用教室 / 設備</a:t>
            </a:r>
            <a:endParaRPr sz="23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254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 panose="020B0604020202020204" pitchFamily="34" charset="0"/>
              <a:buChar char="•"/>
            </a:pPr>
            <a:r>
              <a:rPr lang="zh-CN" sz="23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設定教室狀態為「維修中」</a:t>
            </a:r>
            <a:r>
              <a:rPr lang="zh-CN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（UnderMaintenance</a:t>
            </a:r>
            <a:r>
              <a:rPr lang="zh-CN" sz="23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）</a:t>
            </a:r>
            <a:endParaRPr sz="23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342900" marR="0" lvl="0" indent="-3429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3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89" name="Google Shape;189;g3ec94fa5b08_0_58"/>
          <p:cNvSpPr txBox="1"/>
          <p:nvPr/>
        </p:nvSpPr>
        <p:spPr>
          <a:xfrm>
            <a:off x="798025" y="2338025"/>
            <a:ext cx="3035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1.審核借用申請</a:t>
            </a:r>
            <a:endParaRPr sz="30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90" name="Google Shape;190;g3ec94fa5b08_0_58"/>
          <p:cNvSpPr txBox="1"/>
          <p:nvPr/>
        </p:nvSpPr>
        <p:spPr>
          <a:xfrm>
            <a:off x="7980275" y="2338025"/>
            <a:ext cx="3365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 sz="30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2.教室及設備管理</a:t>
            </a:r>
            <a:endParaRPr sz="30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30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91" name="Google Shape;191;g3ec94fa5b08_0_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c94fa5b08_0_80"/>
          <p:cNvSpPr txBox="1"/>
          <p:nvPr/>
        </p:nvSpPr>
        <p:spPr>
          <a:xfrm>
            <a:off x="6262775" y="4224963"/>
            <a:ext cx="5544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SzPts val="1100"/>
              <a:buNone/>
            </a:pPr>
            <a:r>
              <a:rPr lang="zh-CN" sz="51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系統需求說明</a:t>
            </a:r>
            <a:endParaRPr sz="46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198" name="Google Shape;198;g3ec94fa5b08_0_80"/>
          <p:cNvGrpSpPr/>
          <p:nvPr/>
        </p:nvGrpSpPr>
        <p:grpSpPr>
          <a:xfrm>
            <a:off x="4669627" y="3890977"/>
            <a:ext cx="1126055" cy="1243010"/>
            <a:chOff x="589141" y="2173776"/>
            <a:chExt cx="1126055" cy="1243010"/>
          </a:xfrm>
        </p:grpSpPr>
        <p:grpSp>
          <p:nvGrpSpPr>
            <p:cNvPr id="199" name="Google Shape;199;g3ec94fa5b08_0_80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200" name="Google Shape;200;g3ec94fa5b08_0_80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01" name="Google Shape;201;g3ec94fa5b08_0_80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202" name="Google Shape;202;g3ec94fa5b08_0_80"/>
            <p:cNvSpPr txBox="1"/>
            <p:nvPr/>
          </p:nvSpPr>
          <p:spPr>
            <a:xfrm>
              <a:off x="907668" y="2220553"/>
              <a:ext cx="6111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5400" b="1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</a:t>
              </a:r>
              <a:endParaRPr sz="5400" b="1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203" name="Google Shape;203;g3ec94fa5b08_0_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g3ec94fa5b08_0_90"/>
          <p:cNvGrpSpPr/>
          <p:nvPr/>
        </p:nvGrpSpPr>
        <p:grpSpPr>
          <a:xfrm>
            <a:off x="509695" y="295974"/>
            <a:ext cx="3425180" cy="708000"/>
            <a:chOff x="956666" y="3447854"/>
            <a:chExt cx="3425180" cy="708000"/>
          </a:xfrm>
        </p:grpSpPr>
        <p:sp>
          <p:nvSpPr>
            <p:cNvPr id="210" name="Google Shape;210;g3ec94fa5b08_0_90"/>
            <p:cNvSpPr txBox="1"/>
            <p:nvPr/>
          </p:nvSpPr>
          <p:spPr>
            <a:xfrm>
              <a:off x="1581046" y="3447854"/>
              <a:ext cx="28008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SzPts val="1100"/>
                <a:buNone/>
              </a:pPr>
              <a:r>
                <a:rPr lang="zh-CN" sz="40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功能性需求</a:t>
              </a:r>
              <a:endParaRPr sz="28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11" name="Google Shape;211;g3ec94fa5b08_0_9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12" name="Google Shape;212;g3ec94fa5b08_0_9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id="213" name="Google Shape;213;g3ec94fa5b08_0_90"/>
          <p:cNvGrpSpPr/>
          <p:nvPr/>
        </p:nvGrpSpPr>
        <p:grpSpPr>
          <a:xfrm>
            <a:off x="426659" y="2679842"/>
            <a:ext cx="2654129" cy="2677308"/>
            <a:chOff x="3711385" y="1272950"/>
            <a:chExt cx="5138682" cy="5183559"/>
          </a:xfrm>
        </p:grpSpPr>
        <p:grpSp>
          <p:nvGrpSpPr>
            <p:cNvPr id="214" name="Google Shape;214;g3ec94fa5b08_0_90"/>
            <p:cNvGrpSpPr/>
            <p:nvPr/>
          </p:nvGrpSpPr>
          <p:grpSpPr>
            <a:xfrm>
              <a:off x="3711385" y="1272950"/>
              <a:ext cx="5138682" cy="5183559"/>
              <a:chOff x="3765171" y="1421576"/>
              <a:chExt cx="4704460" cy="4745545"/>
            </a:xfrm>
          </p:grpSpPr>
          <p:sp>
            <p:nvSpPr>
              <p:cNvPr id="215" name="Google Shape;215;g3ec94fa5b08_0_90"/>
              <p:cNvSpPr/>
              <p:nvPr/>
            </p:nvSpPr>
            <p:spPr>
              <a:xfrm rot="10800000">
                <a:off x="3765171" y="275463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0900" tIns="30450" rIns="60900" bIns="304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16" name="Google Shape;216;g3ec94fa5b08_0_90"/>
              <p:cNvSpPr/>
              <p:nvPr/>
            </p:nvSpPr>
            <p:spPr>
              <a:xfrm rot="-5400000">
                <a:off x="4900552" y="159258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0900" tIns="30450" rIns="60900" bIns="304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17" name="Google Shape;217;g3ec94fa5b08_0_90"/>
              <p:cNvSpPr/>
              <p:nvPr/>
            </p:nvSpPr>
            <p:spPr>
              <a:xfrm>
                <a:off x="6047362" y="275082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0900" tIns="30450" rIns="60900" bIns="304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18" name="Google Shape;218;g3ec94fa5b08_0_90"/>
              <p:cNvSpPr/>
              <p:nvPr/>
            </p:nvSpPr>
            <p:spPr>
              <a:xfrm rot="5400000">
                <a:off x="4910820" y="3915856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0900" tIns="30450" rIns="60900" bIns="304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19" name="Google Shape;219;g3ec94fa5b08_0_90"/>
            <p:cNvGrpSpPr/>
            <p:nvPr/>
          </p:nvGrpSpPr>
          <p:grpSpPr>
            <a:xfrm>
              <a:off x="6008633" y="5754099"/>
              <a:ext cx="478637" cy="476753"/>
              <a:chOff x="4557733" y="2434359"/>
              <a:chExt cx="512624" cy="510606"/>
            </a:xfrm>
          </p:grpSpPr>
          <p:sp>
            <p:nvSpPr>
              <p:cNvPr id="220" name="Google Shape;220;g3ec94fa5b08_0_90"/>
              <p:cNvSpPr/>
              <p:nvPr/>
            </p:nvSpPr>
            <p:spPr>
              <a:xfrm>
                <a:off x="4557733" y="2434359"/>
                <a:ext cx="512624" cy="510606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72" extrusionOk="0">
                    <a:moveTo>
                      <a:pt x="86" y="21"/>
                    </a:moveTo>
                    <a:cubicBezTo>
                      <a:pt x="122" y="21"/>
                      <a:pt x="151" y="50"/>
                      <a:pt x="151" y="86"/>
                    </a:cubicBezTo>
                    <a:cubicBezTo>
                      <a:pt x="151" y="122"/>
                      <a:pt x="122" y="151"/>
                      <a:pt x="86" y="151"/>
                    </a:cubicBezTo>
                    <a:cubicBezTo>
                      <a:pt x="50" y="151"/>
                      <a:pt x="21" y="122"/>
                      <a:pt x="21" y="86"/>
                    </a:cubicBezTo>
                    <a:cubicBezTo>
                      <a:pt x="21" y="50"/>
                      <a:pt x="50" y="21"/>
                      <a:pt x="86" y="21"/>
                    </a:cubicBezTo>
                    <a:moveTo>
                      <a:pt x="86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4"/>
                      <a:pt x="38" y="172"/>
                      <a:pt x="86" y="172"/>
                    </a:cubicBezTo>
                    <a:cubicBezTo>
                      <a:pt x="134" y="172"/>
                      <a:pt x="172" y="134"/>
                      <a:pt x="172" y="86"/>
                    </a:cubicBezTo>
                    <a:cubicBezTo>
                      <a:pt x="172" y="38"/>
                      <a:pt x="134" y="0"/>
                      <a:pt x="8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21" name="Google Shape;221;g3ec94fa5b08_0_90"/>
              <p:cNvSpPr/>
              <p:nvPr/>
            </p:nvSpPr>
            <p:spPr>
              <a:xfrm>
                <a:off x="4781753" y="2529215"/>
                <a:ext cx="129165" cy="254294"/>
              </a:xfrm>
              <a:custGeom>
                <a:avLst/>
                <a:gdLst/>
                <a:ahLst/>
                <a:cxnLst/>
                <a:rect l="l" t="t" r="r" b="b"/>
                <a:pathLst>
                  <a:path w="44" h="86" extrusionOk="0">
                    <a:moveTo>
                      <a:pt x="33" y="86"/>
                    </a:moveTo>
                    <a:cubicBezTo>
                      <a:pt x="30" y="86"/>
                      <a:pt x="27" y="85"/>
                      <a:pt x="25" y="83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1" y="60"/>
                      <a:pt x="0" y="57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4" y="72"/>
                      <a:pt x="44" y="79"/>
                      <a:pt x="40" y="83"/>
                    </a:cubicBezTo>
                    <a:cubicBezTo>
                      <a:pt x="38" y="85"/>
                      <a:pt x="35" y="86"/>
                      <a:pt x="33" y="8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22" name="Google Shape;222;g3ec94fa5b08_0_90"/>
            <p:cNvGrpSpPr/>
            <p:nvPr/>
          </p:nvGrpSpPr>
          <p:grpSpPr>
            <a:xfrm>
              <a:off x="5930134" y="1546509"/>
              <a:ext cx="438265" cy="421472"/>
              <a:chOff x="6159731" y="1864447"/>
              <a:chExt cx="469385" cy="451400"/>
            </a:xfrm>
          </p:grpSpPr>
          <p:sp>
            <p:nvSpPr>
              <p:cNvPr id="223" name="Google Shape;223;g3ec94fa5b08_0_90"/>
              <p:cNvSpPr/>
              <p:nvPr/>
            </p:nvSpPr>
            <p:spPr>
              <a:xfrm>
                <a:off x="6288812" y="1864447"/>
                <a:ext cx="211200" cy="21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24" name="Google Shape;224;g3ec94fa5b08_0_90"/>
              <p:cNvSpPr/>
              <p:nvPr/>
            </p:nvSpPr>
            <p:spPr>
              <a:xfrm>
                <a:off x="6159731" y="2111736"/>
                <a:ext cx="469385" cy="204111"/>
              </a:xfrm>
              <a:custGeom>
                <a:avLst/>
                <a:gdLst/>
                <a:ahLst/>
                <a:cxnLst/>
                <a:rect l="l" t="t" r="r" b="b"/>
                <a:pathLst>
                  <a:path w="200" h="87" extrusionOk="0">
                    <a:moveTo>
                      <a:pt x="35" y="87"/>
                    </a:moveTo>
                    <a:cubicBezTo>
                      <a:pt x="35" y="72"/>
                      <a:pt x="35" y="72"/>
                      <a:pt x="35" y="72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6" y="87"/>
                      <a:pt x="46" y="87"/>
                      <a:pt x="46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5" y="72"/>
                      <a:pt x="155" y="72"/>
                      <a:pt x="155" y="72"/>
                    </a:cubicBezTo>
                    <a:cubicBezTo>
                      <a:pt x="166" y="72"/>
                      <a:pt x="166" y="72"/>
                      <a:pt x="166" y="72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47"/>
                      <a:pt x="200" y="43"/>
                      <a:pt x="200" y="43"/>
                    </a:cubicBezTo>
                    <a:cubicBezTo>
                      <a:pt x="200" y="19"/>
                      <a:pt x="180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0" y="0"/>
                      <a:pt x="140" y="0"/>
                      <a:pt x="140" y="0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4" y="0"/>
                    </a:cubicBezTo>
                    <a:cubicBezTo>
                      <a:pt x="20" y="0"/>
                      <a:pt x="1" y="19"/>
                      <a:pt x="1" y="43"/>
                    </a:cubicBezTo>
                    <a:cubicBezTo>
                      <a:pt x="1" y="43"/>
                      <a:pt x="0" y="47"/>
                      <a:pt x="0" y="87"/>
                    </a:cubicBezTo>
                    <a:lnTo>
                      <a:pt x="3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25" name="Google Shape;225;g3ec94fa5b08_0_90"/>
            <p:cNvGrpSpPr/>
            <p:nvPr/>
          </p:nvGrpSpPr>
          <p:grpSpPr>
            <a:xfrm>
              <a:off x="4034207" y="3712154"/>
              <a:ext cx="396175" cy="343351"/>
              <a:chOff x="7090992" y="4839631"/>
              <a:chExt cx="424306" cy="367732"/>
            </a:xfrm>
          </p:grpSpPr>
          <p:sp>
            <p:nvSpPr>
              <p:cNvPr id="226" name="Google Shape;226;g3ec94fa5b08_0_90"/>
              <p:cNvSpPr/>
              <p:nvPr/>
            </p:nvSpPr>
            <p:spPr>
              <a:xfrm>
                <a:off x="7156995" y="4994536"/>
                <a:ext cx="86882" cy="152885"/>
              </a:xfrm>
              <a:custGeom>
                <a:avLst/>
                <a:gdLst/>
                <a:ahLst/>
                <a:cxnLst/>
                <a:rect l="l" t="t" r="r" b="b"/>
                <a:pathLst>
                  <a:path w="54" h="95" extrusionOk="0">
                    <a:moveTo>
                      <a:pt x="4" y="95"/>
                    </a:moveTo>
                    <a:cubicBezTo>
                      <a:pt x="49" y="95"/>
                      <a:pt x="49" y="95"/>
                      <a:pt x="49" y="95"/>
                    </a:cubicBezTo>
                    <a:cubicBezTo>
                      <a:pt x="52" y="95"/>
                      <a:pt x="54" y="93"/>
                      <a:pt x="54" y="90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2" y="95"/>
                      <a:pt x="4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27" name="Google Shape;227;g3ec94fa5b08_0_90"/>
              <p:cNvSpPr/>
              <p:nvPr/>
            </p:nvSpPr>
            <p:spPr>
              <a:xfrm>
                <a:off x="7282266" y="4937962"/>
                <a:ext cx="86882" cy="209459"/>
              </a:xfrm>
              <a:custGeom>
                <a:avLst/>
                <a:gdLst/>
                <a:ahLst/>
                <a:cxnLst/>
                <a:rect l="l" t="t" r="r" b="b"/>
                <a:pathLst>
                  <a:path w="54" h="130" extrusionOk="0">
                    <a:moveTo>
                      <a:pt x="5" y="130"/>
                    </a:moveTo>
                    <a:cubicBezTo>
                      <a:pt x="50" y="130"/>
                      <a:pt x="50" y="130"/>
                      <a:pt x="50" y="130"/>
                    </a:cubicBezTo>
                    <a:cubicBezTo>
                      <a:pt x="52" y="130"/>
                      <a:pt x="54" y="128"/>
                      <a:pt x="54" y="12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5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0" y="128"/>
                      <a:pt x="2" y="130"/>
                      <a:pt x="5" y="1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28" name="Google Shape;228;g3ec94fa5b08_0_90"/>
              <p:cNvSpPr/>
              <p:nvPr/>
            </p:nvSpPr>
            <p:spPr>
              <a:xfrm>
                <a:off x="7408885" y="4891491"/>
                <a:ext cx="86882" cy="255931"/>
              </a:xfrm>
              <a:custGeom>
                <a:avLst/>
                <a:gdLst/>
                <a:ahLst/>
                <a:cxnLst/>
                <a:rect l="l" t="t" r="r" b="b"/>
                <a:pathLst>
                  <a:path w="54" h="159" extrusionOk="0">
                    <a:moveTo>
                      <a:pt x="4" y="159"/>
                    </a:moveTo>
                    <a:cubicBezTo>
                      <a:pt x="49" y="159"/>
                      <a:pt x="49" y="159"/>
                      <a:pt x="49" y="159"/>
                    </a:cubicBezTo>
                    <a:cubicBezTo>
                      <a:pt x="52" y="159"/>
                      <a:pt x="54" y="157"/>
                      <a:pt x="54" y="154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59"/>
                      <a:pt x="4" y="1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29" name="Google Shape;229;g3ec94fa5b08_0_90"/>
              <p:cNvSpPr/>
              <p:nvPr/>
            </p:nvSpPr>
            <p:spPr>
              <a:xfrm>
                <a:off x="7090992" y="4839631"/>
                <a:ext cx="424306" cy="367732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28" extrusionOk="0">
                    <a:moveTo>
                      <a:pt x="253" y="206"/>
                    </a:moveTo>
                    <a:cubicBezTo>
                      <a:pt x="23" y="206"/>
                      <a:pt x="23" y="206"/>
                      <a:pt x="23" y="206"/>
                    </a:cubicBezTo>
                    <a:cubicBezTo>
                      <a:pt x="22" y="206"/>
                      <a:pt x="22" y="206"/>
                      <a:pt x="22" y="206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5"/>
                      <a:pt x="17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0" y="218"/>
                      <a:pt x="10" y="228"/>
                      <a:pt x="23" y="228"/>
                    </a:cubicBezTo>
                    <a:cubicBezTo>
                      <a:pt x="253" y="228"/>
                      <a:pt x="253" y="228"/>
                      <a:pt x="253" y="228"/>
                    </a:cubicBezTo>
                    <a:cubicBezTo>
                      <a:pt x="259" y="228"/>
                      <a:pt x="264" y="223"/>
                      <a:pt x="264" y="217"/>
                    </a:cubicBezTo>
                    <a:cubicBezTo>
                      <a:pt x="264" y="211"/>
                      <a:pt x="259" y="206"/>
                      <a:pt x="253" y="2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30" name="Google Shape;230;g3ec94fa5b08_0_90"/>
            <p:cNvGrpSpPr/>
            <p:nvPr/>
          </p:nvGrpSpPr>
          <p:grpSpPr>
            <a:xfrm>
              <a:off x="8189171" y="3651806"/>
              <a:ext cx="364675" cy="360915"/>
              <a:chOff x="4270293" y="4090633"/>
              <a:chExt cx="390570" cy="386543"/>
            </a:xfrm>
          </p:grpSpPr>
          <p:sp>
            <p:nvSpPr>
              <p:cNvPr id="231" name="Google Shape;231;g3ec94fa5b08_0_90"/>
              <p:cNvSpPr/>
              <p:nvPr/>
            </p:nvSpPr>
            <p:spPr>
              <a:xfrm>
                <a:off x="4270293" y="4307258"/>
                <a:ext cx="390570" cy="16991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89" extrusionOk="0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32" name="Google Shape;232;g3ec94fa5b08_0_90"/>
              <p:cNvSpPr/>
              <p:nvPr/>
            </p:nvSpPr>
            <p:spPr>
              <a:xfrm>
                <a:off x="4270293" y="4090633"/>
                <a:ext cx="390570" cy="22467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18" extrusionOk="0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233" name="Google Shape;233;g3ec94fa5b08_0_90"/>
            <p:cNvSpPr/>
            <p:nvPr/>
          </p:nvSpPr>
          <p:spPr>
            <a:xfrm>
              <a:off x="5204058" y="2867849"/>
              <a:ext cx="7446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00" tIns="30450" rIns="60900" bIns="304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32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34" name="Google Shape;234;g3ec94fa5b08_0_90"/>
            <p:cNvSpPr/>
            <p:nvPr/>
          </p:nvSpPr>
          <p:spPr>
            <a:xfrm>
              <a:off x="6436986" y="2877142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00" tIns="30450" rIns="60900" bIns="304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32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35" name="Google Shape;235;g3ec94fa5b08_0_90"/>
            <p:cNvSpPr/>
            <p:nvPr/>
          </p:nvSpPr>
          <p:spPr>
            <a:xfrm>
              <a:off x="6382619" y="4203625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00" tIns="30450" rIns="60900" bIns="304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32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36" name="Google Shape;236;g3ec94fa5b08_0_90"/>
            <p:cNvSpPr/>
            <p:nvPr/>
          </p:nvSpPr>
          <p:spPr>
            <a:xfrm>
              <a:off x="5037068" y="4149436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00" tIns="30450" rIns="60900" bIns="304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32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237" name="Google Shape;237;g3ec94fa5b08_0_90"/>
          <p:cNvGrpSpPr/>
          <p:nvPr/>
        </p:nvGrpSpPr>
        <p:grpSpPr>
          <a:xfrm>
            <a:off x="3459396" y="1511165"/>
            <a:ext cx="8417929" cy="5225983"/>
            <a:chOff x="3202580" y="2364465"/>
            <a:chExt cx="8417929" cy="4714554"/>
          </a:xfrm>
        </p:grpSpPr>
        <p:grpSp>
          <p:nvGrpSpPr>
            <p:cNvPr id="238" name="Google Shape;238;g3ec94fa5b08_0_90"/>
            <p:cNvGrpSpPr/>
            <p:nvPr/>
          </p:nvGrpSpPr>
          <p:grpSpPr>
            <a:xfrm>
              <a:off x="3202736" y="2364465"/>
              <a:ext cx="7364559" cy="155729"/>
              <a:chOff x="4906190" y="1416527"/>
              <a:chExt cx="3933000" cy="166200"/>
            </a:xfrm>
          </p:grpSpPr>
          <p:sp>
            <p:nvSpPr>
              <p:cNvPr id="239" name="Google Shape;239;g3ec94fa5b08_0_90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>
                  <a:solidFill>
                    <a:srgbClr val="FFB85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40" name="Google Shape;240;g3ec94fa5b08_0_90"/>
              <p:cNvCxnSpPr>
                <a:stCxn id="239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41" name="Google Shape;241;g3ec94fa5b08_0_90"/>
            <p:cNvGrpSpPr/>
            <p:nvPr/>
          </p:nvGrpSpPr>
          <p:grpSpPr>
            <a:xfrm>
              <a:off x="3202736" y="3337168"/>
              <a:ext cx="7364559" cy="155729"/>
              <a:chOff x="4906190" y="2727732"/>
              <a:chExt cx="3933000" cy="166200"/>
            </a:xfrm>
          </p:grpSpPr>
          <p:sp>
            <p:nvSpPr>
              <p:cNvPr id="242" name="Google Shape;242;g3ec94fa5b08_0_90"/>
              <p:cNvSpPr/>
              <p:nvPr/>
            </p:nvSpPr>
            <p:spPr>
              <a:xfrm>
                <a:off x="4906190" y="2727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12700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43" name="Google Shape;243;g3ec94fa5b08_0_90"/>
              <p:cNvCxnSpPr>
                <a:stCxn id="242" idx="3"/>
              </p:cNvCxnSpPr>
              <p:nvPr/>
            </p:nvCxnSpPr>
            <p:spPr>
              <a:xfrm>
                <a:off x="5072390" y="2810832"/>
                <a:ext cx="376680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44" name="Google Shape;244;g3ec94fa5b08_0_90"/>
            <p:cNvGrpSpPr/>
            <p:nvPr/>
          </p:nvGrpSpPr>
          <p:grpSpPr>
            <a:xfrm>
              <a:off x="3202736" y="4273995"/>
              <a:ext cx="7364709" cy="155729"/>
              <a:chOff x="4906190" y="3870732"/>
              <a:chExt cx="3933080" cy="166200"/>
            </a:xfrm>
          </p:grpSpPr>
          <p:sp>
            <p:nvSpPr>
              <p:cNvPr id="245" name="Google Shape;245;g3ec94fa5b08_0_90"/>
              <p:cNvSpPr/>
              <p:nvPr/>
            </p:nvSpPr>
            <p:spPr>
              <a:xfrm>
                <a:off x="4906190" y="3870732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46" name="Google Shape;246;g3ec94fa5b08_0_90"/>
              <p:cNvCxnSpPr/>
              <p:nvPr/>
            </p:nvCxnSpPr>
            <p:spPr>
              <a:xfrm>
                <a:off x="5072470" y="3941172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47" name="Google Shape;247;g3ec94fa5b08_0_90"/>
            <p:cNvSpPr txBox="1"/>
            <p:nvPr/>
          </p:nvSpPr>
          <p:spPr>
            <a:xfrm>
              <a:off x="3202580" y="2532614"/>
              <a:ext cx="7364400" cy="42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SzPts val="1100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1.使用者必須能登入系統</a:t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48" name="Google Shape;248;g3ec94fa5b08_0_90"/>
            <p:cNvSpPr txBox="1"/>
            <p:nvPr/>
          </p:nvSpPr>
          <p:spPr>
            <a:xfrm>
              <a:off x="3202585" y="3500279"/>
              <a:ext cx="7739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2.支援教室借用類型選擇(短期借用 / 長期借用）</a:t>
              </a:r>
              <a:endParaRPr sz="2267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49" name="Google Shape;249;g3ec94fa5b08_0_90"/>
            <p:cNvSpPr txBox="1"/>
            <p:nvPr/>
          </p:nvSpPr>
          <p:spPr>
            <a:xfrm>
              <a:off x="3202580" y="4467082"/>
              <a:ext cx="7364400" cy="42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SzPts val="1100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3.使用者可以查詢教室狀態</a:t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grpSp>
          <p:nvGrpSpPr>
            <p:cNvPr id="250" name="Google Shape;250;g3ec94fa5b08_0_90"/>
            <p:cNvGrpSpPr/>
            <p:nvPr/>
          </p:nvGrpSpPr>
          <p:grpSpPr>
            <a:xfrm>
              <a:off x="3203278" y="5213276"/>
              <a:ext cx="7364707" cy="155729"/>
              <a:chOff x="4989842" y="3870732"/>
              <a:chExt cx="3933079" cy="166200"/>
            </a:xfrm>
          </p:grpSpPr>
          <p:sp>
            <p:nvSpPr>
              <p:cNvPr id="251" name="Google Shape;251;g3ec94fa5b08_0_90"/>
              <p:cNvSpPr/>
              <p:nvPr/>
            </p:nvSpPr>
            <p:spPr>
              <a:xfrm>
                <a:off x="4989842" y="3870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12700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52" name="Google Shape;252;g3ec94fa5b08_0_90"/>
              <p:cNvCxnSpPr/>
              <p:nvPr/>
            </p:nvCxnSpPr>
            <p:spPr>
              <a:xfrm>
                <a:off x="5156121" y="3941172"/>
                <a:ext cx="376680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53" name="Google Shape;253;g3ec94fa5b08_0_90"/>
            <p:cNvSpPr txBox="1"/>
            <p:nvPr/>
          </p:nvSpPr>
          <p:spPr>
            <a:xfrm>
              <a:off x="3203109" y="5406353"/>
              <a:ext cx="8417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4.系統需防止時間衝突（同一教室不可同時被借用）</a:t>
              </a:r>
              <a:endParaRPr sz="2267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just" rtl="0">
                <a:lnSpc>
                  <a:spcPct val="13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grpSp>
          <p:nvGrpSpPr>
            <p:cNvPr id="254" name="Google Shape;254;g3ec94fa5b08_0_90"/>
            <p:cNvGrpSpPr/>
            <p:nvPr/>
          </p:nvGrpSpPr>
          <p:grpSpPr>
            <a:xfrm>
              <a:off x="3220079" y="5981151"/>
              <a:ext cx="7364542" cy="155729"/>
              <a:chOff x="4906190" y="1416527"/>
              <a:chExt cx="3933000" cy="166200"/>
            </a:xfrm>
          </p:grpSpPr>
          <p:sp>
            <p:nvSpPr>
              <p:cNvPr id="255" name="Google Shape;255;g3ec94fa5b08_0_90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>
                  <a:solidFill>
                    <a:srgbClr val="FFB85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56" name="Google Shape;256;g3ec94fa5b08_0_90"/>
              <p:cNvCxnSpPr>
                <a:stCxn id="255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57" name="Google Shape;257;g3ec94fa5b08_0_90"/>
            <p:cNvSpPr txBox="1"/>
            <p:nvPr/>
          </p:nvSpPr>
          <p:spPr>
            <a:xfrm>
              <a:off x="3202594" y="6306220"/>
              <a:ext cx="7364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5.借用需經過管理員審核</a:t>
              </a:r>
              <a:endParaRPr sz="2267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258" name="Google Shape;258;g3ec94fa5b08_0_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g3ec94fa5b08_0_144"/>
          <p:cNvGrpSpPr/>
          <p:nvPr/>
        </p:nvGrpSpPr>
        <p:grpSpPr>
          <a:xfrm>
            <a:off x="509695" y="295974"/>
            <a:ext cx="3425180" cy="708000"/>
            <a:chOff x="956666" y="3447854"/>
            <a:chExt cx="3425180" cy="708000"/>
          </a:xfrm>
        </p:grpSpPr>
        <p:sp>
          <p:nvSpPr>
            <p:cNvPr id="265" name="Google Shape;265;g3ec94fa5b08_0_144"/>
            <p:cNvSpPr txBox="1"/>
            <p:nvPr/>
          </p:nvSpPr>
          <p:spPr>
            <a:xfrm>
              <a:off x="1581046" y="3447854"/>
              <a:ext cx="28008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SzPts val="1100"/>
                <a:buNone/>
              </a:pPr>
              <a:r>
                <a:rPr lang="zh-CN" sz="40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功能性需求</a:t>
              </a:r>
              <a:endParaRPr sz="28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66" name="Google Shape;266;g3ec94fa5b08_0_144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67" name="Google Shape;267;g3ec94fa5b08_0_144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id="268" name="Google Shape;268;g3ec94fa5b08_0_144"/>
          <p:cNvGrpSpPr/>
          <p:nvPr/>
        </p:nvGrpSpPr>
        <p:grpSpPr>
          <a:xfrm>
            <a:off x="426659" y="2679842"/>
            <a:ext cx="2654129" cy="2677308"/>
            <a:chOff x="3711385" y="1272950"/>
            <a:chExt cx="5138682" cy="5183559"/>
          </a:xfrm>
        </p:grpSpPr>
        <p:grpSp>
          <p:nvGrpSpPr>
            <p:cNvPr id="269" name="Google Shape;269;g3ec94fa5b08_0_144"/>
            <p:cNvGrpSpPr/>
            <p:nvPr/>
          </p:nvGrpSpPr>
          <p:grpSpPr>
            <a:xfrm>
              <a:off x="3711385" y="1272950"/>
              <a:ext cx="5138682" cy="5183559"/>
              <a:chOff x="3765171" y="1421576"/>
              <a:chExt cx="4704460" cy="4745545"/>
            </a:xfrm>
          </p:grpSpPr>
          <p:sp>
            <p:nvSpPr>
              <p:cNvPr id="270" name="Google Shape;270;g3ec94fa5b08_0_144"/>
              <p:cNvSpPr/>
              <p:nvPr/>
            </p:nvSpPr>
            <p:spPr>
              <a:xfrm rot="10800000">
                <a:off x="3765171" y="275463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0900" tIns="30450" rIns="60900" bIns="304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71" name="Google Shape;271;g3ec94fa5b08_0_144"/>
              <p:cNvSpPr/>
              <p:nvPr/>
            </p:nvSpPr>
            <p:spPr>
              <a:xfrm rot="-5400000">
                <a:off x="4900552" y="159258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0900" tIns="30450" rIns="60900" bIns="304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72" name="Google Shape;272;g3ec94fa5b08_0_144"/>
              <p:cNvSpPr/>
              <p:nvPr/>
            </p:nvSpPr>
            <p:spPr>
              <a:xfrm>
                <a:off x="6047362" y="275082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0900" tIns="30450" rIns="60900" bIns="304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73" name="Google Shape;273;g3ec94fa5b08_0_144"/>
              <p:cNvSpPr/>
              <p:nvPr/>
            </p:nvSpPr>
            <p:spPr>
              <a:xfrm rot="5400000">
                <a:off x="4910820" y="3915856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0900" tIns="30450" rIns="60900" bIns="304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74" name="Google Shape;274;g3ec94fa5b08_0_144"/>
            <p:cNvGrpSpPr/>
            <p:nvPr/>
          </p:nvGrpSpPr>
          <p:grpSpPr>
            <a:xfrm>
              <a:off x="6008633" y="5754099"/>
              <a:ext cx="478637" cy="476753"/>
              <a:chOff x="4557733" y="2434359"/>
              <a:chExt cx="512624" cy="510606"/>
            </a:xfrm>
          </p:grpSpPr>
          <p:sp>
            <p:nvSpPr>
              <p:cNvPr id="275" name="Google Shape;275;g3ec94fa5b08_0_144"/>
              <p:cNvSpPr/>
              <p:nvPr/>
            </p:nvSpPr>
            <p:spPr>
              <a:xfrm>
                <a:off x="4557733" y="2434359"/>
                <a:ext cx="512624" cy="510606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72" extrusionOk="0">
                    <a:moveTo>
                      <a:pt x="86" y="21"/>
                    </a:moveTo>
                    <a:cubicBezTo>
                      <a:pt x="122" y="21"/>
                      <a:pt x="151" y="50"/>
                      <a:pt x="151" y="86"/>
                    </a:cubicBezTo>
                    <a:cubicBezTo>
                      <a:pt x="151" y="122"/>
                      <a:pt x="122" y="151"/>
                      <a:pt x="86" y="151"/>
                    </a:cubicBezTo>
                    <a:cubicBezTo>
                      <a:pt x="50" y="151"/>
                      <a:pt x="21" y="122"/>
                      <a:pt x="21" y="86"/>
                    </a:cubicBezTo>
                    <a:cubicBezTo>
                      <a:pt x="21" y="50"/>
                      <a:pt x="50" y="21"/>
                      <a:pt x="86" y="21"/>
                    </a:cubicBezTo>
                    <a:moveTo>
                      <a:pt x="86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4"/>
                      <a:pt x="38" y="172"/>
                      <a:pt x="86" y="172"/>
                    </a:cubicBezTo>
                    <a:cubicBezTo>
                      <a:pt x="134" y="172"/>
                      <a:pt x="172" y="134"/>
                      <a:pt x="172" y="86"/>
                    </a:cubicBezTo>
                    <a:cubicBezTo>
                      <a:pt x="172" y="38"/>
                      <a:pt x="134" y="0"/>
                      <a:pt x="8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76" name="Google Shape;276;g3ec94fa5b08_0_144"/>
              <p:cNvSpPr/>
              <p:nvPr/>
            </p:nvSpPr>
            <p:spPr>
              <a:xfrm>
                <a:off x="4781753" y="2529215"/>
                <a:ext cx="129165" cy="254294"/>
              </a:xfrm>
              <a:custGeom>
                <a:avLst/>
                <a:gdLst/>
                <a:ahLst/>
                <a:cxnLst/>
                <a:rect l="l" t="t" r="r" b="b"/>
                <a:pathLst>
                  <a:path w="44" h="86" extrusionOk="0">
                    <a:moveTo>
                      <a:pt x="33" y="86"/>
                    </a:moveTo>
                    <a:cubicBezTo>
                      <a:pt x="30" y="86"/>
                      <a:pt x="27" y="85"/>
                      <a:pt x="25" y="83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1" y="60"/>
                      <a:pt x="0" y="57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4" y="72"/>
                      <a:pt x="44" y="79"/>
                      <a:pt x="40" y="83"/>
                    </a:cubicBezTo>
                    <a:cubicBezTo>
                      <a:pt x="38" y="85"/>
                      <a:pt x="35" y="86"/>
                      <a:pt x="33" y="8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99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77" name="Google Shape;277;g3ec94fa5b08_0_144"/>
            <p:cNvGrpSpPr/>
            <p:nvPr/>
          </p:nvGrpSpPr>
          <p:grpSpPr>
            <a:xfrm>
              <a:off x="5930134" y="1546509"/>
              <a:ext cx="438265" cy="421472"/>
              <a:chOff x="6159731" y="1864447"/>
              <a:chExt cx="469385" cy="451400"/>
            </a:xfrm>
          </p:grpSpPr>
          <p:sp>
            <p:nvSpPr>
              <p:cNvPr id="278" name="Google Shape;278;g3ec94fa5b08_0_144"/>
              <p:cNvSpPr/>
              <p:nvPr/>
            </p:nvSpPr>
            <p:spPr>
              <a:xfrm>
                <a:off x="6288812" y="1864447"/>
                <a:ext cx="211200" cy="21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79" name="Google Shape;279;g3ec94fa5b08_0_144"/>
              <p:cNvSpPr/>
              <p:nvPr/>
            </p:nvSpPr>
            <p:spPr>
              <a:xfrm>
                <a:off x="6159731" y="2111736"/>
                <a:ext cx="469385" cy="204111"/>
              </a:xfrm>
              <a:custGeom>
                <a:avLst/>
                <a:gdLst/>
                <a:ahLst/>
                <a:cxnLst/>
                <a:rect l="l" t="t" r="r" b="b"/>
                <a:pathLst>
                  <a:path w="200" h="87" extrusionOk="0">
                    <a:moveTo>
                      <a:pt x="35" y="87"/>
                    </a:moveTo>
                    <a:cubicBezTo>
                      <a:pt x="35" y="72"/>
                      <a:pt x="35" y="72"/>
                      <a:pt x="35" y="72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6" y="87"/>
                      <a:pt x="46" y="87"/>
                      <a:pt x="46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5" y="72"/>
                      <a:pt x="155" y="72"/>
                      <a:pt x="155" y="72"/>
                    </a:cubicBezTo>
                    <a:cubicBezTo>
                      <a:pt x="166" y="72"/>
                      <a:pt x="166" y="72"/>
                      <a:pt x="166" y="72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47"/>
                      <a:pt x="200" y="43"/>
                      <a:pt x="200" y="43"/>
                    </a:cubicBezTo>
                    <a:cubicBezTo>
                      <a:pt x="200" y="19"/>
                      <a:pt x="180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0" y="0"/>
                      <a:pt x="140" y="0"/>
                      <a:pt x="140" y="0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4" y="0"/>
                    </a:cubicBezTo>
                    <a:cubicBezTo>
                      <a:pt x="20" y="0"/>
                      <a:pt x="1" y="19"/>
                      <a:pt x="1" y="43"/>
                    </a:cubicBezTo>
                    <a:cubicBezTo>
                      <a:pt x="1" y="43"/>
                      <a:pt x="0" y="47"/>
                      <a:pt x="0" y="87"/>
                    </a:cubicBezTo>
                    <a:lnTo>
                      <a:pt x="3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80" name="Google Shape;280;g3ec94fa5b08_0_144"/>
            <p:cNvGrpSpPr/>
            <p:nvPr/>
          </p:nvGrpSpPr>
          <p:grpSpPr>
            <a:xfrm>
              <a:off x="4034207" y="3712154"/>
              <a:ext cx="396175" cy="343351"/>
              <a:chOff x="7090992" y="4839631"/>
              <a:chExt cx="424306" cy="367732"/>
            </a:xfrm>
          </p:grpSpPr>
          <p:sp>
            <p:nvSpPr>
              <p:cNvPr id="281" name="Google Shape;281;g3ec94fa5b08_0_144"/>
              <p:cNvSpPr/>
              <p:nvPr/>
            </p:nvSpPr>
            <p:spPr>
              <a:xfrm>
                <a:off x="7156995" y="4994536"/>
                <a:ext cx="86882" cy="152885"/>
              </a:xfrm>
              <a:custGeom>
                <a:avLst/>
                <a:gdLst/>
                <a:ahLst/>
                <a:cxnLst/>
                <a:rect l="l" t="t" r="r" b="b"/>
                <a:pathLst>
                  <a:path w="54" h="95" extrusionOk="0">
                    <a:moveTo>
                      <a:pt x="4" y="95"/>
                    </a:moveTo>
                    <a:cubicBezTo>
                      <a:pt x="49" y="95"/>
                      <a:pt x="49" y="95"/>
                      <a:pt x="49" y="95"/>
                    </a:cubicBezTo>
                    <a:cubicBezTo>
                      <a:pt x="52" y="95"/>
                      <a:pt x="54" y="93"/>
                      <a:pt x="54" y="90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2" y="95"/>
                      <a:pt x="4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82" name="Google Shape;282;g3ec94fa5b08_0_144"/>
              <p:cNvSpPr/>
              <p:nvPr/>
            </p:nvSpPr>
            <p:spPr>
              <a:xfrm>
                <a:off x="7282266" y="4937962"/>
                <a:ext cx="86882" cy="209459"/>
              </a:xfrm>
              <a:custGeom>
                <a:avLst/>
                <a:gdLst/>
                <a:ahLst/>
                <a:cxnLst/>
                <a:rect l="l" t="t" r="r" b="b"/>
                <a:pathLst>
                  <a:path w="54" h="130" extrusionOk="0">
                    <a:moveTo>
                      <a:pt x="5" y="130"/>
                    </a:moveTo>
                    <a:cubicBezTo>
                      <a:pt x="50" y="130"/>
                      <a:pt x="50" y="130"/>
                      <a:pt x="50" y="130"/>
                    </a:cubicBezTo>
                    <a:cubicBezTo>
                      <a:pt x="52" y="130"/>
                      <a:pt x="54" y="128"/>
                      <a:pt x="54" y="12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5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0" y="128"/>
                      <a:pt x="2" y="130"/>
                      <a:pt x="5" y="1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83" name="Google Shape;283;g3ec94fa5b08_0_144"/>
              <p:cNvSpPr/>
              <p:nvPr/>
            </p:nvSpPr>
            <p:spPr>
              <a:xfrm>
                <a:off x="7408885" y="4891491"/>
                <a:ext cx="86882" cy="255931"/>
              </a:xfrm>
              <a:custGeom>
                <a:avLst/>
                <a:gdLst/>
                <a:ahLst/>
                <a:cxnLst/>
                <a:rect l="l" t="t" r="r" b="b"/>
                <a:pathLst>
                  <a:path w="54" h="159" extrusionOk="0">
                    <a:moveTo>
                      <a:pt x="4" y="159"/>
                    </a:moveTo>
                    <a:cubicBezTo>
                      <a:pt x="49" y="159"/>
                      <a:pt x="49" y="159"/>
                      <a:pt x="49" y="159"/>
                    </a:cubicBezTo>
                    <a:cubicBezTo>
                      <a:pt x="52" y="159"/>
                      <a:pt x="54" y="157"/>
                      <a:pt x="54" y="154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59"/>
                      <a:pt x="4" y="1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84" name="Google Shape;284;g3ec94fa5b08_0_144"/>
              <p:cNvSpPr/>
              <p:nvPr/>
            </p:nvSpPr>
            <p:spPr>
              <a:xfrm>
                <a:off x="7090992" y="4839631"/>
                <a:ext cx="424306" cy="367732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28" extrusionOk="0">
                    <a:moveTo>
                      <a:pt x="253" y="206"/>
                    </a:moveTo>
                    <a:cubicBezTo>
                      <a:pt x="23" y="206"/>
                      <a:pt x="23" y="206"/>
                      <a:pt x="23" y="206"/>
                    </a:cubicBezTo>
                    <a:cubicBezTo>
                      <a:pt x="22" y="206"/>
                      <a:pt x="22" y="206"/>
                      <a:pt x="22" y="206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5"/>
                      <a:pt x="17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0" y="218"/>
                      <a:pt x="10" y="228"/>
                      <a:pt x="23" y="228"/>
                    </a:cubicBezTo>
                    <a:cubicBezTo>
                      <a:pt x="253" y="228"/>
                      <a:pt x="253" y="228"/>
                      <a:pt x="253" y="228"/>
                    </a:cubicBezTo>
                    <a:cubicBezTo>
                      <a:pt x="259" y="228"/>
                      <a:pt x="264" y="223"/>
                      <a:pt x="264" y="217"/>
                    </a:cubicBezTo>
                    <a:cubicBezTo>
                      <a:pt x="264" y="211"/>
                      <a:pt x="259" y="206"/>
                      <a:pt x="253" y="2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85" name="Google Shape;285;g3ec94fa5b08_0_144"/>
            <p:cNvGrpSpPr/>
            <p:nvPr/>
          </p:nvGrpSpPr>
          <p:grpSpPr>
            <a:xfrm>
              <a:off x="8189171" y="3651806"/>
              <a:ext cx="364675" cy="360915"/>
              <a:chOff x="4270293" y="4090633"/>
              <a:chExt cx="390570" cy="386543"/>
            </a:xfrm>
          </p:grpSpPr>
          <p:sp>
            <p:nvSpPr>
              <p:cNvPr id="286" name="Google Shape;286;g3ec94fa5b08_0_144"/>
              <p:cNvSpPr/>
              <p:nvPr/>
            </p:nvSpPr>
            <p:spPr>
              <a:xfrm>
                <a:off x="4270293" y="4307258"/>
                <a:ext cx="390570" cy="16991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89" extrusionOk="0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87" name="Google Shape;287;g3ec94fa5b08_0_144"/>
              <p:cNvSpPr/>
              <p:nvPr/>
            </p:nvSpPr>
            <p:spPr>
              <a:xfrm>
                <a:off x="4270293" y="4090633"/>
                <a:ext cx="390570" cy="22467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18" extrusionOk="0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00" tIns="30450" rIns="60900" bIns="30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2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288" name="Google Shape;288;g3ec94fa5b08_0_144"/>
            <p:cNvSpPr/>
            <p:nvPr/>
          </p:nvSpPr>
          <p:spPr>
            <a:xfrm>
              <a:off x="5204058" y="2867849"/>
              <a:ext cx="7446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00" tIns="30450" rIns="60900" bIns="304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32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89" name="Google Shape;289;g3ec94fa5b08_0_144"/>
            <p:cNvSpPr/>
            <p:nvPr/>
          </p:nvSpPr>
          <p:spPr>
            <a:xfrm>
              <a:off x="6436986" y="2877142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00" tIns="30450" rIns="60900" bIns="304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32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90" name="Google Shape;290;g3ec94fa5b08_0_144"/>
            <p:cNvSpPr/>
            <p:nvPr/>
          </p:nvSpPr>
          <p:spPr>
            <a:xfrm>
              <a:off x="6382619" y="4203625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00" tIns="30450" rIns="60900" bIns="304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32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291" name="Google Shape;291;g3ec94fa5b08_0_144"/>
            <p:cNvSpPr/>
            <p:nvPr/>
          </p:nvSpPr>
          <p:spPr>
            <a:xfrm>
              <a:off x="5037068" y="4149436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00" tIns="30450" rIns="60900" bIns="304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32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292" name="Google Shape;292;g3ec94fa5b08_0_144"/>
          <p:cNvGrpSpPr/>
          <p:nvPr/>
        </p:nvGrpSpPr>
        <p:grpSpPr>
          <a:xfrm>
            <a:off x="3403321" y="1357162"/>
            <a:ext cx="8417929" cy="5299660"/>
            <a:chOff x="3202580" y="2364465"/>
            <a:chExt cx="8417929" cy="4901463"/>
          </a:xfrm>
        </p:grpSpPr>
        <p:grpSp>
          <p:nvGrpSpPr>
            <p:cNvPr id="293" name="Google Shape;293;g3ec94fa5b08_0_144"/>
            <p:cNvGrpSpPr/>
            <p:nvPr/>
          </p:nvGrpSpPr>
          <p:grpSpPr>
            <a:xfrm>
              <a:off x="3202715" y="2364465"/>
              <a:ext cx="7364543" cy="155729"/>
              <a:chOff x="4906190" y="1416527"/>
              <a:chExt cx="3933000" cy="166200"/>
            </a:xfrm>
          </p:grpSpPr>
          <p:sp>
            <p:nvSpPr>
              <p:cNvPr id="294" name="Google Shape;294;g3ec94fa5b08_0_144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>
                  <a:solidFill>
                    <a:srgbClr val="FFB85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95" name="Google Shape;295;g3ec94fa5b08_0_144"/>
              <p:cNvCxnSpPr>
                <a:stCxn id="294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96" name="Google Shape;296;g3ec94fa5b08_0_144"/>
            <p:cNvGrpSpPr/>
            <p:nvPr/>
          </p:nvGrpSpPr>
          <p:grpSpPr>
            <a:xfrm>
              <a:off x="3202715" y="3337167"/>
              <a:ext cx="7364543" cy="155729"/>
              <a:chOff x="4906190" y="2727732"/>
              <a:chExt cx="3933000" cy="166200"/>
            </a:xfrm>
          </p:grpSpPr>
          <p:sp>
            <p:nvSpPr>
              <p:cNvPr id="297" name="Google Shape;297;g3ec94fa5b08_0_144"/>
              <p:cNvSpPr/>
              <p:nvPr/>
            </p:nvSpPr>
            <p:spPr>
              <a:xfrm>
                <a:off x="4906190" y="2727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12700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298" name="Google Shape;298;g3ec94fa5b08_0_144"/>
              <p:cNvCxnSpPr>
                <a:stCxn id="297" idx="3"/>
              </p:cNvCxnSpPr>
              <p:nvPr/>
            </p:nvCxnSpPr>
            <p:spPr>
              <a:xfrm>
                <a:off x="5072390" y="2810832"/>
                <a:ext cx="376680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99" name="Google Shape;299;g3ec94fa5b08_0_144"/>
            <p:cNvGrpSpPr/>
            <p:nvPr/>
          </p:nvGrpSpPr>
          <p:grpSpPr>
            <a:xfrm>
              <a:off x="3202715" y="4273994"/>
              <a:ext cx="7364692" cy="155729"/>
              <a:chOff x="4906190" y="3870732"/>
              <a:chExt cx="3933080" cy="166200"/>
            </a:xfrm>
          </p:grpSpPr>
          <p:sp>
            <p:nvSpPr>
              <p:cNvPr id="300" name="Google Shape;300;g3ec94fa5b08_0_144"/>
              <p:cNvSpPr/>
              <p:nvPr/>
            </p:nvSpPr>
            <p:spPr>
              <a:xfrm>
                <a:off x="4906190" y="3870732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301" name="Google Shape;301;g3ec94fa5b08_0_144"/>
              <p:cNvCxnSpPr/>
              <p:nvPr/>
            </p:nvCxnSpPr>
            <p:spPr>
              <a:xfrm>
                <a:off x="5072470" y="3941172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302" name="Google Shape;302;g3ec94fa5b08_0_144"/>
            <p:cNvSpPr txBox="1"/>
            <p:nvPr/>
          </p:nvSpPr>
          <p:spPr>
            <a:xfrm>
              <a:off x="3202580" y="2532614"/>
              <a:ext cx="7364400" cy="42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SzPts val="1100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6.系統需保存歷史借用紀錄</a:t>
              </a:r>
              <a:endParaRPr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03" name="Google Shape;303;g3ec94fa5b08_0_144"/>
            <p:cNvSpPr txBox="1"/>
            <p:nvPr/>
          </p:nvSpPr>
          <p:spPr>
            <a:xfrm>
              <a:off x="3202584" y="3500279"/>
              <a:ext cx="8278800" cy="42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SzPts val="1100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7.管理員可管理教室資料（新增、停用、設定維修）</a:t>
              </a:r>
              <a:endParaRPr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04" name="Google Shape;304;g3ec94fa5b08_0_144"/>
            <p:cNvSpPr txBox="1"/>
            <p:nvPr/>
          </p:nvSpPr>
          <p:spPr>
            <a:xfrm>
              <a:off x="3202580" y="4467082"/>
              <a:ext cx="7364400" cy="42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SzPts val="1100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8.系統記錄審核歷程(記錄審核者與操作內容)</a:t>
              </a:r>
              <a:endParaRPr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grpSp>
          <p:nvGrpSpPr>
            <p:cNvPr id="305" name="Google Shape;305;g3ec94fa5b08_0_144"/>
            <p:cNvGrpSpPr/>
            <p:nvPr/>
          </p:nvGrpSpPr>
          <p:grpSpPr>
            <a:xfrm>
              <a:off x="3203257" y="5213275"/>
              <a:ext cx="7364690" cy="155729"/>
              <a:chOff x="4989842" y="3870732"/>
              <a:chExt cx="3933079" cy="166200"/>
            </a:xfrm>
          </p:grpSpPr>
          <p:sp>
            <p:nvSpPr>
              <p:cNvPr id="306" name="Google Shape;306;g3ec94fa5b08_0_144"/>
              <p:cNvSpPr/>
              <p:nvPr/>
            </p:nvSpPr>
            <p:spPr>
              <a:xfrm>
                <a:off x="4989842" y="3870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12700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307" name="Google Shape;307;g3ec94fa5b08_0_144"/>
              <p:cNvCxnSpPr/>
              <p:nvPr/>
            </p:nvCxnSpPr>
            <p:spPr>
              <a:xfrm>
                <a:off x="5156121" y="3941172"/>
                <a:ext cx="376680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308" name="Google Shape;308;g3ec94fa5b08_0_144"/>
            <p:cNvSpPr txBox="1"/>
            <p:nvPr/>
          </p:nvSpPr>
          <p:spPr>
            <a:xfrm>
              <a:off x="3203109" y="5406353"/>
              <a:ext cx="8417400" cy="42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SzPts val="1100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9.使用者可取消尚未開始的借用申請</a:t>
              </a:r>
              <a:endParaRPr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grpSp>
          <p:nvGrpSpPr>
            <p:cNvPr id="309" name="Google Shape;309;g3ec94fa5b08_0_144"/>
            <p:cNvGrpSpPr/>
            <p:nvPr/>
          </p:nvGrpSpPr>
          <p:grpSpPr>
            <a:xfrm>
              <a:off x="3220079" y="5981151"/>
              <a:ext cx="7364542" cy="155729"/>
              <a:chOff x="4906190" y="1416527"/>
              <a:chExt cx="3933000" cy="166200"/>
            </a:xfrm>
          </p:grpSpPr>
          <p:sp>
            <p:nvSpPr>
              <p:cNvPr id="310" name="Google Shape;310;g3ec94fa5b08_0_144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>
                  <a:solidFill>
                    <a:srgbClr val="FFB85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cxnSp>
            <p:nvCxnSpPr>
              <p:cNvPr id="311" name="Google Shape;311;g3ec94fa5b08_0_144"/>
              <p:cNvCxnSpPr>
                <a:stCxn id="310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12700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312" name="Google Shape;312;g3ec94fa5b08_0_144"/>
            <p:cNvSpPr txBox="1"/>
            <p:nvPr/>
          </p:nvSpPr>
          <p:spPr>
            <a:xfrm>
              <a:off x="3202584" y="6306227"/>
              <a:ext cx="82788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10.記錄並管理教室所包含之設備資訊</a:t>
              </a:r>
              <a:endParaRPr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  <a:p>
              <a:pPr marL="0" lvl="0" indent="45720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SzPts val="1100"/>
                <a:buNone/>
              </a:pPr>
              <a:r>
                <a:rPr lang="zh-CN" sz="260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（如投影機、麥克風等）</a:t>
              </a:r>
              <a:endParaRPr sz="2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</p:grpSp>
      <p:sp>
        <p:nvSpPr>
          <p:cNvPr id="313" name="Google Shape;313;g3ec94fa5b08_0_1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c94fa5b08_0_201"/>
          <p:cNvSpPr txBox="1"/>
          <p:nvPr/>
        </p:nvSpPr>
        <p:spPr>
          <a:xfrm>
            <a:off x="6262775" y="4224963"/>
            <a:ext cx="55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zh-CN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ER Diagram</a:t>
            </a:r>
            <a:endParaRPr sz="4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320" name="Google Shape;320;g3ec94fa5b08_0_201"/>
          <p:cNvGrpSpPr/>
          <p:nvPr/>
        </p:nvGrpSpPr>
        <p:grpSpPr>
          <a:xfrm>
            <a:off x="4669627" y="3890977"/>
            <a:ext cx="1126055" cy="1243010"/>
            <a:chOff x="589141" y="2173776"/>
            <a:chExt cx="1126055" cy="1243010"/>
          </a:xfrm>
        </p:grpSpPr>
        <p:grpSp>
          <p:nvGrpSpPr>
            <p:cNvPr id="321" name="Google Shape;321;g3ec94fa5b08_0_201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322" name="Google Shape;322;g3ec94fa5b08_0_201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323" name="Google Shape;323;g3ec94fa5b08_0_201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324" name="Google Shape;324;g3ec94fa5b08_0_201"/>
            <p:cNvSpPr txBox="1"/>
            <p:nvPr/>
          </p:nvSpPr>
          <p:spPr>
            <a:xfrm>
              <a:off x="907668" y="2220553"/>
              <a:ext cx="6111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5400" b="1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</a:t>
              </a:r>
              <a:endParaRPr sz="5400" b="1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325" name="Google Shape;325;g3ec94fa5b08_0_2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g3ec94fa5b08_6_20"/>
          <p:cNvGrpSpPr/>
          <p:nvPr/>
        </p:nvGrpSpPr>
        <p:grpSpPr>
          <a:xfrm>
            <a:off x="509695" y="295974"/>
            <a:ext cx="3425180" cy="666300"/>
            <a:chOff x="956666" y="3447854"/>
            <a:chExt cx="3425180" cy="666300"/>
          </a:xfrm>
        </p:grpSpPr>
        <p:sp>
          <p:nvSpPr>
            <p:cNvPr id="332" name="Google Shape;332;g3ec94fa5b08_6_20"/>
            <p:cNvSpPr txBox="1"/>
            <p:nvPr/>
          </p:nvSpPr>
          <p:spPr>
            <a:xfrm>
              <a:off x="1581046" y="3447854"/>
              <a:ext cx="28008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ER Diagram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33" name="Google Shape;333;g3ec94fa5b08_6_2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4" name="Google Shape;334;g3ec94fa5b08_6_2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pic>
        <p:nvPicPr>
          <p:cNvPr id="335" name="Google Shape;335;g3ec94fa5b08_6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875" y="962275"/>
            <a:ext cx="9416251" cy="58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ec94fa5b08_6_20" title="資料庫系統-ERD-簡圖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313" y="962276"/>
            <a:ext cx="10643379" cy="585587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ec94fa5b08_6_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c94fa5b08_6_9"/>
          <p:cNvSpPr txBox="1"/>
          <p:nvPr/>
        </p:nvSpPr>
        <p:spPr>
          <a:xfrm>
            <a:off x="6262775" y="4224963"/>
            <a:ext cx="55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zh-CN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完整性限制</a:t>
            </a:r>
            <a:endParaRPr sz="4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344" name="Google Shape;344;g3ec94fa5b08_6_9"/>
          <p:cNvGrpSpPr/>
          <p:nvPr/>
        </p:nvGrpSpPr>
        <p:grpSpPr>
          <a:xfrm>
            <a:off x="4669627" y="3890977"/>
            <a:ext cx="1126055" cy="1243010"/>
            <a:chOff x="589141" y="2173776"/>
            <a:chExt cx="1126055" cy="1243010"/>
          </a:xfrm>
        </p:grpSpPr>
        <p:grpSp>
          <p:nvGrpSpPr>
            <p:cNvPr id="345" name="Google Shape;345;g3ec94fa5b08_6_9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346" name="Google Shape;346;g3ec94fa5b08_6_9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347" name="Google Shape;347;g3ec94fa5b08_6_9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sp>
          <p:nvSpPr>
            <p:cNvPr id="348" name="Google Shape;348;g3ec94fa5b08_6_9"/>
            <p:cNvSpPr txBox="1"/>
            <p:nvPr/>
          </p:nvSpPr>
          <p:spPr>
            <a:xfrm>
              <a:off x="907668" y="2220553"/>
              <a:ext cx="6111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5400" b="1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4</a:t>
              </a:r>
              <a:endParaRPr sz="5400" b="1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349" name="Google Shape;349;g3ec94fa5b08_6_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g3ec94fa5b08_6_0"/>
          <p:cNvGrpSpPr/>
          <p:nvPr/>
        </p:nvGrpSpPr>
        <p:grpSpPr>
          <a:xfrm>
            <a:off x="509695" y="295975"/>
            <a:ext cx="4386980" cy="666300"/>
            <a:chOff x="956666" y="3447855"/>
            <a:chExt cx="4386980" cy="666300"/>
          </a:xfrm>
        </p:grpSpPr>
        <p:sp>
          <p:nvSpPr>
            <p:cNvPr id="356" name="Google Shape;356;g3ec94fa5b08_6_0"/>
            <p:cNvSpPr txBox="1"/>
            <p:nvPr/>
          </p:nvSpPr>
          <p:spPr>
            <a:xfrm>
              <a:off x="1581046" y="3447855"/>
              <a:ext cx="37626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User (使用者)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57" name="Google Shape;357;g3ec94fa5b08_6_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58" name="Google Shape;358;g3ec94fa5b08_6_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pic>
        <p:nvPicPr>
          <p:cNvPr id="359" name="Google Shape;359;g3ec94fa5b08_6_0" title="ERD-使用者提出借用申請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0" y="1823438"/>
            <a:ext cx="3958600" cy="42806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0" name="Google Shape;360;g3ec94fa5b08_6_0"/>
          <p:cNvGraphicFramePr/>
          <p:nvPr/>
        </p:nvGraphicFramePr>
        <p:xfrm>
          <a:off x="4089925" y="1613325"/>
          <a:ext cx="8053875" cy="4338775"/>
        </p:xfrm>
        <a:graphic>
          <a:graphicData uri="http://schemas.openxmlformats.org/drawingml/2006/table">
            <a:tbl>
              <a:tblPr>
                <a:noFill/>
                <a:tableStyleId>{E0E49999-C5E0-4CD2-8454-8D5F01229A2C}</a:tableStyleId>
              </a:tblPr>
              <a:tblGrid>
                <a:gridCol w="10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user_id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主鍵，使用者唯一識別碼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從1開始遞增的整數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3EA1D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name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姓名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長度為1-50的文字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phone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聯絡電話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 (NULL)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長度為10的數字字串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account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登入帳號（唯一）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長度為4-20的英數字，且不可重複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password_hash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密碼雜湊（非明文儲存）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雜湊後的字串(固定長度)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role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角色：'Student', 'Teacher', 'Admin'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'Student', 'Teacher', 'Admin' 三者之一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1" name="Google Shape;361;g3ec94fa5b08_6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g3ec94fa5b08_6_46"/>
          <p:cNvGrpSpPr/>
          <p:nvPr/>
        </p:nvGrpSpPr>
        <p:grpSpPr>
          <a:xfrm>
            <a:off x="509695" y="295975"/>
            <a:ext cx="4535780" cy="666300"/>
            <a:chOff x="956666" y="3447855"/>
            <a:chExt cx="4535780" cy="666300"/>
          </a:xfrm>
        </p:grpSpPr>
        <p:sp>
          <p:nvSpPr>
            <p:cNvPr id="368" name="Google Shape;368;g3ec94fa5b08_6_46"/>
            <p:cNvSpPr txBox="1"/>
            <p:nvPr/>
          </p:nvSpPr>
          <p:spPr>
            <a:xfrm>
              <a:off x="1581046" y="3447855"/>
              <a:ext cx="39114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User (使用者)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69" name="Google Shape;369;g3ec94fa5b08_6_46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70" name="Google Shape;370;g3ec94fa5b08_6_46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371" name="Google Shape;371;g3ec94fa5b08_6_46"/>
          <p:cNvSpPr txBox="1"/>
          <p:nvPr/>
        </p:nvSpPr>
        <p:spPr>
          <a:xfrm>
            <a:off x="696600" y="2195250"/>
            <a:ext cx="10798800" cy="24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user_id 為主鍵，值必須唯一且非空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account 必須唯一，不可重複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role 合法值為：'Student', 'Teacher', 'Admin'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至少需有一筆 role = 'Admin' 的使用者，否則系統無法運作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72" name="Google Shape;372;g3ec94fa5b08_6_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g3ec94fa5b08_6_36"/>
          <p:cNvGrpSpPr/>
          <p:nvPr/>
        </p:nvGrpSpPr>
        <p:grpSpPr>
          <a:xfrm>
            <a:off x="509695" y="295975"/>
            <a:ext cx="4744280" cy="666300"/>
            <a:chOff x="956666" y="3447855"/>
            <a:chExt cx="4744280" cy="666300"/>
          </a:xfrm>
        </p:grpSpPr>
        <p:sp>
          <p:nvSpPr>
            <p:cNvPr id="379" name="Google Shape;379;g3ec94fa5b08_6_36"/>
            <p:cNvSpPr txBox="1"/>
            <p:nvPr/>
          </p:nvSpPr>
          <p:spPr>
            <a:xfrm>
              <a:off x="1581046" y="3447855"/>
              <a:ext cx="41199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Room (教室)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80" name="Google Shape;380;g3ec94fa5b08_6_36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81" name="Google Shape;381;g3ec94fa5b08_6_36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aphicFrame>
        <p:nvGraphicFramePr>
          <p:cNvPr id="382" name="Google Shape;382;g3ec94fa5b08_6_36"/>
          <p:cNvGraphicFramePr/>
          <p:nvPr/>
        </p:nvGraphicFramePr>
        <p:xfrm>
          <a:off x="4089925" y="1853038"/>
          <a:ext cx="8053875" cy="3718950"/>
        </p:xfrm>
        <a:graphic>
          <a:graphicData uri="http://schemas.openxmlformats.org/drawingml/2006/table">
            <a:tbl>
              <a:tblPr>
                <a:noFill/>
                <a:tableStyleId>{E0E49999-C5E0-4CD2-8454-8D5F01229A2C}</a:tableStyleId>
              </a:tblPr>
              <a:tblGrid>
                <a:gridCol w="116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room_id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主鍵，教室唯一識別碼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從1開始遞增的整數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room_name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教室名稱(例如「BGC0614」)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長度為3~20的文字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，且不可重複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location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位置(例如「綜三館 6F」)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 (NULL)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長度為3~50的文字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capacity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可容人數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1~100的整數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status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教室狀態: 'Normal'、'UnderMaintenance'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'Normal'、'UnderMaintenance'兩者之一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83" name="Google Shape;383;g3ec94fa5b08_6_36" title="ERD-借用申請借用教室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5950"/>
            <a:ext cx="4037125" cy="46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ec94fa5b08_6_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g3ec94fa5b08_6_58"/>
          <p:cNvGrpSpPr/>
          <p:nvPr/>
        </p:nvGrpSpPr>
        <p:grpSpPr>
          <a:xfrm>
            <a:off x="509695" y="295975"/>
            <a:ext cx="4535780" cy="666300"/>
            <a:chOff x="956666" y="3447855"/>
            <a:chExt cx="4535780" cy="666300"/>
          </a:xfrm>
        </p:grpSpPr>
        <p:sp>
          <p:nvSpPr>
            <p:cNvPr id="391" name="Google Shape;391;g3ec94fa5b08_6_58"/>
            <p:cNvSpPr txBox="1"/>
            <p:nvPr/>
          </p:nvSpPr>
          <p:spPr>
            <a:xfrm>
              <a:off x="1581046" y="3447855"/>
              <a:ext cx="39114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Room (教室)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392" name="Google Shape;392;g3ec94fa5b08_6_58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93" name="Google Shape;393;g3ec94fa5b08_6_58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394" name="Google Shape;394;g3ec94fa5b08_6_58"/>
          <p:cNvSpPr txBox="1"/>
          <p:nvPr/>
        </p:nvSpPr>
        <p:spPr>
          <a:xfrm>
            <a:off x="375700" y="1743200"/>
            <a:ext cx="11606400" cy="42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room_id 為主鍵，值必須唯一且非空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room_name 必須唯一，避免同名教室造成混淆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capacity &gt; 0，人數不可為空或負數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status 合法值為：'Normal', 'UnderMaintenance'，不可為其他值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若 status = 'UnderMaintenance'，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則不得有BorrowRequest.status = 'Approved' 的借用申請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95" name="Google Shape;395;g3ec94fa5b08_6_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g3ec94fa5b08_6_67"/>
          <p:cNvGrpSpPr/>
          <p:nvPr/>
        </p:nvGrpSpPr>
        <p:grpSpPr>
          <a:xfrm>
            <a:off x="509695" y="295975"/>
            <a:ext cx="6061880" cy="666300"/>
            <a:chOff x="956666" y="3447855"/>
            <a:chExt cx="6061880" cy="666300"/>
          </a:xfrm>
        </p:grpSpPr>
        <p:sp>
          <p:nvSpPr>
            <p:cNvPr id="402" name="Google Shape;402;g3ec94fa5b08_6_67"/>
            <p:cNvSpPr txBox="1"/>
            <p:nvPr/>
          </p:nvSpPr>
          <p:spPr>
            <a:xfrm>
              <a:off x="1581046" y="3447855"/>
              <a:ext cx="54375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Equipment (教室設備)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03" name="Google Shape;403;g3ec94fa5b08_6_67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04" name="Google Shape;404;g3ec94fa5b08_6_67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pic>
        <p:nvPicPr>
          <p:cNvPr id="405" name="Google Shape;405;g3ec94fa5b08_6_67" title="ERD-教室包含設備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1089"/>
            <a:ext cx="4089925" cy="45907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6" name="Google Shape;406;g3ec94fa5b08_6_67"/>
          <p:cNvGraphicFramePr/>
          <p:nvPr/>
        </p:nvGraphicFramePr>
        <p:xfrm>
          <a:off x="4193725" y="2800638"/>
          <a:ext cx="7933150" cy="2479300"/>
        </p:xfrm>
        <a:graphic>
          <a:graphicData uri="http://schemas.openxmlformats.org/drawingml/2006/table">
            <a:tbl>
              <a:tblPr>
                <a:noFill/>
                <a:tableStyleId>{E0E49999-C5E0-4CD2-8454-8D5F01229A2C}</a:tableStyleId>
              </a:tblPr>
              <a:tblGrid>
                <a:gridCol w="13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eq_id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主鍵，設備唯一識別碼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從1開始遞增的整數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eq_name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設備名稱（例如「投影機」）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長度為1~30的文字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room_id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外鍵，對應 Room.room_id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參考 Room 的 room_id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7" name="Google Shape;407;g3ec94fa5b08_6_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g3ec94fa5b08_6_91"/>
          <p:cNvGrpSpPr/>
          <p:nvPr/>
        </p:nvGrpSpPr>
        <p:grpSpPr>
          <a:xfrm>
            <a:off x="509713" y="295975"/>
            <a:ext cx="6085650" cy="666300"/>
            <a:chOff x="956666" y="3447855"/>
            <a:chExt cx="5712080" cy="666300"/>
          </a:xfrm>
        </p:grpSpPr>
        <p:sp>
          <p:nvSpPr>
            <p:cNvPr id="414" name="Google Shape;414;g3ec94fa5b08_6_91"/>
            <p:cNvSpPr txBox="1"/>
            <p:nvPr/>
          </p:nvSpPr>
          <p:spPr>
            <a:xfrm>
              <a:off x="1581046" y="3447855"/>
              <a:ext cx="50877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Equipment (教室設備)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15" name="Google Shape;415;g3ec94fa5b08_6_91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6" name="Google Shape;416;g3ec94fa5b08_6_91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417" name="Google Shape;417;g3ec94fa5b08_6_91"/>
          <p:cNvSpPr txBox="1"/>
          <p:nvPr/>
        </p:nvSpPr>
        <p:spPr>
          <a:xfrm>
            <a:off x="394375" y="2079375"/>
            <a:ext cx="11606400" cy="29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eq_id 為主鍵，值必須唯一且非空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eq_name 在同一 room_id 下不可重複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room_id 必須對應到 Room.room_id（外鍵約束）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每筆 room_id 可對應多筆 eq_id，一間教室可有多項設備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9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18" name="Google Shape;418;g3ec94fa5b08_6_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g3ec94fa5b08_6_100"/>
          <p:cNvGrpSpPr/>
          <p:nvPr/>
        </p:nvGrpSpPr>
        <p:grpSpPr>
          <a:xfrm>
            <a:off x="509695" y="295975"/>
            <a:ext cx="6963380" cy="666300"/>
            <a:chOff x="956666" y="3447855"/>
            <a:chExt cx="6963380" cy="666300"/>
          </a:xfrm>
        </p:grpSpPr>
        <p:sp>
          <p:nvSpPr>
            <p:cNvPr id="425" name="Google Shape;425;g3ec94fa5b08_6_100"/>
            <p:cNvSpPr txBox="1"/>
            <p:nvPr/>
          </p:nvSpPr>
          <p:spPr>
            <a:xfrm>
              <a:off x="1581046" y="3447855"/>
              <a:ext cx="63390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BorrowRequest (借用申請)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26" name="Google Shape;426;g3ec94fa5b08_6_10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7" name="Google Shape;427;g3ec94fa5b08_6_10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aphicFrame>
        <p:nvGraphicFramePr>
          <p:cNvPr id="428" name="Google Shape;428;g3ec94fa5b08_6_100"/>
          <p:cNvGraphicFramePr/>
          <p:nvPr/>
        </p:nvGraphicFramePr>
        <p:xfrm>
          <a:off x="4081300" y="1887375"/>
          <a:ext cx="7933150" cy="4338775"/>
        </p:xfrm>
        <a:graphic>
          <a:graphicData uri="http://schemas.openxmlformats.org/drawingml/2006/table">
            <a:tbl>
              <a:tblPr>
                <a:noFill/>
                <a:tableStyleId>{E0E49999-C5E0-4CD2-8454-8D5F01229A2C}</a:tableStyleId>
              </a:tblPr>
              <a:tblGrid>
                <a:gridCol w="124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req_id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主鍵，借用申請唯一識別碼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從1開始遞增的整數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user_id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外鍵，借用者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（User.user_id）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參考 User 的 user_id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room_id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外鍵，借用教室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（Room.room_id）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參考 Room 的 room_id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borrow_date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借用日期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（例如「2026-04-23」）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今天（含）以後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的合法日期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start_time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借用起始時間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08:10~21:40 之間的時間，且早於 end_time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end_time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借用結束時間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09:00~22:30 之間的時間，且晚於 start_time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29" name="Google Shape;429;g3ec94fa5b08_6_100" title="ERD-借用申請產生審核歷程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46400"/>
            <a:ext cx="3954825" cy="46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ec94fa5b08_6_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g3ec94fa5b08_6_122"/>
          <p:cNvGrpSpPr/>
          <p:nvPr/>
        </p:nvGrpSpPr>
        <p:grpSpPr>
          <a:xfrm>
            <a:off x="509695" y="295975"/>
            <a:ext cx="6963380" cy="666300"/>
            <a:chOff x="956666" y="3447855"/>
            <a:chExt cx="6963380" cy="666300"/>
          </a:xfrm>
        </p:grpSpPr>
        <p:sp>
          <p:nvSpPr>
            <p:cNvPr id="437" name="Google Shape;437;g3ec94fa5b08_6_122"/>
            <p:cNvSpPr txBox="1"/>
            <p:nvPr/>
          </p:nvSpPr>
          <p:spPr>
            <a:xfrm>
              <a:off x="1581046" y="3447855"/>
              <a:ext cx="63390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BorrowRequest (借用申請)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38" name="Google Shape;438;g3ec94fa5b08_6_122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39" name="Google Shape;439;g3ec94fa5b08_6_122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aphicFrame>
        <p:nvGraphicFramePr>
          <p:cNvPr id="440" name="Google Shape;440;g3ec94fa5b08_6_122"/>
          <p:cNvGraphicFramePr/>
          <p:nvPr/>
        </p:nvGraphicFramePr>
        <p:xfrm>
          <a:off x="4025775" y="2317463"/>
          <a:ext cx="8102150" cy="3246380"/>
        </p:xfrm>
        <a:graphic>
          <a:graphicData uri="http://schemas.openxmlformats.org/drawingml/2006/table">
            <a:tbl>
              <a:tblPr>
                <a:noFill/>
                <a:tableStyleId>{E0E49999-C5E0-4CD2-8454-8D5F01229A2C}</a:tableStyleId>
              </a:tblPr>
              <a:tblGrid>
                <a:gridCol w="124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purpose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用途（例如「會議」、「補課」）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長度為1~100的文字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borrow_type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借用類型：'ShortTerm'、'LongTerm'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'ShortTerm'、'LongTerm' 兩者之一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status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申請狀態：'Pending'、'Approved'、'Rejected'、'Cancelled'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'Pending'、'Approved'、'Rejected'、'Cancelled' 四者之一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created_at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申請建立時間（系統自動記錄）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系統自動記錄的建立時間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41" name="Google Shape;441;g3ec94fa5b08_6_122" title="ERD-借用申請產生審核歷程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46400"/>
            <a:ext cx="3954825" cy="46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ec94fa5b08_6_1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g3ec94fa5b08_6_141"/>
          <p:cNvGrpSpPr/>
          <p:nvPr/>
        </p:nvGrpSpPr>
        <p:grpSpPr>
          <a:xfrm>
            <a:off x="509713" y="295975"/>
            <a:ext cx="7250343" cy="666300"/>
            <a:chOff x="956666" y="3447855"/>
            <a:chExt cx="6805278" cy="666300"/>
          </a:xfrm>
        </p:grpSpPr>
        <p:sp>
          <p:nvSpPr>
            <p:cNvPr id="449" name="Google Shape;449;g3ec94fa5b08_6_141"/>
            <p:cNvSpPr txBox="1"/>
            <p:nvPr/>
          </p:nvSpPr>
          <p:spPr>
            <a:xfrm>
              <a:off x="1581044" y="3447855"/>
              <a:ext cx="61809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BorrowRequest (借用申請)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50" name="Google Shape;450;g3ec94fa5b08_6_141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51" name="Google Shape;451;g3ec94fa5b08_6_141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452" name="Google Shape;452;g3ec94fa5b08_6_141"/>
          <p:cNvSpPr txBox="1"/>
          <p:nvPr/>
        </p:nvSpPr>
        <p:spPr>
          <a:xfrm>
            <a:off x="394375" y="2079375"/>
            <a:ext cx="11606400" cy="29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req_id 為主鍵，值必須唯一且非空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user_id 必須對應到 User.user_id（外鍵）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room_id 必須對應到 Room.room_id（外鍵）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start_time &lt; end_time，起始時間必須早於結束時間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53" name="Google Shape;453;g3ec94fa5b08_6_1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g3ec94fa5b08_6_132"/>
          <p:cNvGrpSpPr/>
          <p:nvPr/>
        </p:nvGrpSpPr>
        <p:grpSpPr>
          <a:xfrm>
            <a:off x="509713" y="295975"/>
            <a:ext cx="7250343" cy="666300"/>
            <a:chOff x="956666" y="3447855"/>
            <a:chExt cx="6805278" cy="666300"/>
          </a:xfrm>
        </p:grpSpPr>
        <p:sp>
          <p:nvSpPr>
            <p:cNvPr id="460" name="Google Shape;460;g3ec94fa5b08_6_132"/>
            <p:cNvSpPr txBox="1"/>
            <p:nvPr/>
          </p:nvSpPr>
          <p:spPr>
            <a:xfrm>
              <a:off x="1581044" y="3447855"/>
              <a:ext cx="61809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BorrowRequest (借用申請)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61" name="Google Shape;461;g3ec94fa5b08_6_132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62" name="Google Shape;462;g3ec94fa5b08_6_132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463" name="Google Shape;463;g3ec94fa5b08_6_132"/>
          <p:cNvSpPr txBox="1"/>
          <p:nvPr/>
        </p:nvSpPr>
        <p:spPr>
          <a:xfrm>
            <a:off x="0" y="1517900"/>
            <a:ext cx="12273900" cy="48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borrow_type 合法值為：'ShortTerm', 'LongTerm'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status 合法值為：'Pending', 'Approved', 'Rejected', 'Cancelled'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同一 room_id、同一 borrow_date、且 status = 'Approved' 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的借用紀錄，其時間區間不可重疊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若 Room.status = 'UnderMaintenance'，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則該申請不可被核准為 Approved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64" name="Google Shape;464;g3ec94fa5b08_6_1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g3ec94fa5b08_6_150"/>
          <p:cNvGrpSpPr/>
          <p:nvPr/>
        </p:nvGrpSpPr>
        <p:grpSpPr>
          <a:xfrm>
            <a:off x="509695" y="295975"/>
            <a:ext cx="5914580" cy="666300"/>
            <a:chOff x="956666" y="3447855"/>
            <a:chExt cx="5914580" cy="666300"/>
          </a:xfrm>
        </p:grpSpPr>
        <p:sp>
          <p:nvSpPr>
            <p:cNvPr id="471" name="Google Shape;471;g3ec94fa5b08_6_150"/>
            <p:cNvSpPr txBox="1"/>
            <p:nvPr/>
          </p:nvSpPr>
          <p:spPr>
            <a:xfrm>
              <a:off x="1581046" y="3447855"/>
              <a:ext cx="52902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AuditLog (審核歷程)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72" name="Google Shape;472;g3ec94fa5b08_6_15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73" name="Google Shape;473;g3ec94fa5b08_6_15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aphicFrame>
        <p:nvGraphicFramePr>
          <p:cNvPr id="474" name="Google Shape;474;g3ec94fa5b08_6_150"/>
          <p:cNvGraphicFramePr/>
          <p:nvPr/>
        </p:nvGraphicFramePr>
        <p:xfrm>
          <a:off x="4185000" y="1543363"/>
          <a:ext cx="7933150" cy="4486030"/>
        </p:xfrm>
        <a:graphic>
          <a:graphicData uri="http://schemas.openxmlformats.org/drawingml/2006/table">
            <a:tbl>
              <a:tblPr>
                <a:noFill/>
                <a:tableStyleId>{E0E49999-C5E0-4CD2-8454-8D5F01229A2C}</a:tableStyleId>
              </a:tblPr>
              <a:tblGrid>
                <a:gridCol w="124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欄位名稱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說明</a:t>
                      </a:r>
                      <a:endParaRPr b="1"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是否可為空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b="1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Domain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log_id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主鍵，審核紀錄唯一識別碼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從1開始遞增的整數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req_id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外鍵，對應 BorrowRequest.req_id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參考 BorrowRequest 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的 req_id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admin_id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外鍵，審核者（User.user_id）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參考 User 的 user_id（role 為 'Admin'）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action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操作：'Approve'、'Reject'、'Cancel'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'Approve'、'Reject'、'Cancel' 三者之一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reason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拒絕原因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（action = 'Reject'時不可為空）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是 (NULL)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長度為1~200的文字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（action 為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 'Reject' 時必填）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8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timestamp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審核或取消時間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否 (NOT NULL)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>
                          <a:solidFill>
                            <a:schemeClr val="dk1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不早於對應申請的 created_at 的時間</a:t>
                      </a:r>
                      <a:endParaRPr>
                        <a:solidFill>
                          <a:schemeClr val="dk1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75" name="Google Shape;475;g3ec94fa5b08_6_150" title="資料庫系統-ERD.drawio (1).drawio.png"/>
          <p:cNvPicPr preferRelativeResize="0"/>
          <p:nvPr/>
        </p:nvPicPr>
        <p:blipFill rotWithShape="1">
          <a:blip r:embed="rId3">
            <a:alphaModFix/>
          </a:blip>
          <a:srcRect r="55603"/>
          <a:stretch/>
        </p:blipFill>
        <p:spPr>
          <a:xfrm>
            <a:off x="0" y="1131075"/>
            <a:ext cx="4099526" cy="57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ec94fa5b08_6_1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c94fa5b08_14_10"/>
          <p:cNvSpPr txBox="1"/>
          <p:nvPr/>
        </p:nvSpPr>
        <p:spPr>
          <a:xfrm>
            <a:off x="138275" y="1789400"/>
            <a:ext cx="12396900" cy="4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log_id 為主鍵，值必須唯一且非空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req_id 必須對應到 BorrowRequest.req_id（外鍵）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admin_id 必須對應到 User.user_id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（若 action 為 Approve 或 Reject 時）</a:t>
            </a:r>
            <a:endParaRPr sz="2900">
              <a:solidFill>
                <a:srgbClr val="84B17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action 合法值為：'Approve','Reject','Cancel'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若 action = 'Reject'，則 reason 不可為空或只含空白。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29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timestamp 不可早於對應 BorrowRequest.created_at（申請建立時間）</a:t>
            </a:r>
            <a:endParaRPr sz="2900">
              <a:latin typeface="DFKai-SB"/>
              <a:ea typeface="DFKai-SB"/>
              <a:cs typeface="DFKai-SB"/>
              <a:sym typeface="DFKai-SB"/>
            </a:endParaRPr>
          </a:p>
        </p:txBody>
      </p:sp>
      <p:grpSp>
        <p:nvGrpSpPr>
          <p:cNvPr id="483" name="Google Shape;483;g3ec94fa5b08_14_10"/>
          <p:cNvGrpSpPr/>
          <p:nvPr/>
        </p:nvGrpSpPr>
        <p:grpSpPr>
          <a:xfrm>
            <a:off x="509695" y="295975"/>
            <a:ext cx="5914580" cy="666300"/>
            <a:chOff x="956666" y="3447855"/>
            <a:chExt cx="5914580" cy="666300"/>
          </a:xfrm>
        </p:grpSpPr>
        <p:sp>
          <p:nvSpPr>
            <p:cNvPr id="484" name="Google Shape;484;g3ec94fa5b08_14_10"/>
            <p:cNvSpPr txBox="1"/>
            <p:nvPr/>
          </p:nvSpPr>
          <p:spPr>
            <a:xfrm>
              <a:off x="1581046" y="3447855"/>
              <a:ext cx="52902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 </a:t>
              </a:r>
              <a:r>
                <a:rPr lang="zh-CN" sz="3729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AuditLog (審核歷程)</a:t>
              </a:r>
              <a:endParaRPr sz="28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85" name="Google Shape;485;g3ec94fa5b08_14_1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86" name="Google Shape;486;g3ec94fa5b08_14_1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487" name="Google Shape;487;g3ec94fa5b08_14_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3" name="Google Shape;493;g3ec94fa5b08_14_2"/>
          <p:cNvGraphicFramePr/>
          <p:nvPr/>
        </p:nvGraphicFramePr>
        <p:xfrm>
          <a:off x="581675" y="1507150"/>
          <a:ext cx="11028650" cy="4851400"/>
        </p:xfrm>
        <a:graphic>
          <a:graphicData uri="http://schemas.openxmlformats.org/drawingml/2006/table">
            <a:tbl>
              <a:tblPr>
                <a:noFill/>
                <a:tableStyleId>{E0E49999-C5E0-4CD2-8454-8D5F01229A2C}</a:tableStyleId>
              </a:tblPr>
              <a:tblGrid>
                <a:gridCol w="426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規則說明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對應限制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每個使用者必須先登入，才能發出借用申請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User 資料存在，且 BorrowRequest.user_id 對應到 User.user_id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教室借用必須經過審核，Pending 時尚未核准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BorrowRequest.status 必須在審核後才可變為 Approved / Rejected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只有 Admin 可以核准或拒絕申請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AuditLog.admin_id 必須對應到 User.role = 'Admin' 的使用者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使用者只能取消尚未開始的借用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若系統時間已超過 borrow_date + start_time，status 不可再變更為 Cancelled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維修中的教室不可被核准借用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在 INSERT / UPDATE BorrowRequest 時檢查對應 Room.status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每筆核准或拒絕操作都必須在 AuditLog 中記錄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2000"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凡 BorrowRequest.status 從 Pending → Approved 或 Rejected，必須有一筆對應的 AuditLog 資料</a:t>
                      </a:r>
                      <a:endParaRPr sz="2000"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94" name="Google Shape;494;g3ec94fa5b08_14_2"/>
          <p:cNvGrpSpPr/>
          <p:nvPr/>
        </p:nvGrpSpPr>
        <p:grpSpPr>
          <a:xfrm>
            <a:off x="509695" y="295975"/>
            <a:ext cx="5914580" cy="622363"/>
            <a:chOff x="956666" y="3447855"/>
            <a:chExt cx="5914580" cy="622363"/>
          </a:xfrm>
        </p:grpSpPr>
        <p:sp>
          <p:nvSpPr>
            <p:cNvPr id="495" name="Google Shape;495;g3ec94fa5b08_14_2"/>
            <p:cNvSpPr txBox="1"/>
            <p:nvPr/>
          </p:nvSpPr>
          <p:spPr>
            <a:xfrm>
              <a:off x="1581046" y="3447855"/>
              <a:ext cx="5290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4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</a:t>
              </a: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跨資料表</a:t>
              </a:r>
              <a:r>
                <a:rPr lang="zh-CN" sz="30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完整性限制</a:t>
              </a:r>
              <a:endParaRPr sz="34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496" name="Google Shape;496;g3ec94fa5b08_14_2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7" name="Google Shape;497;g3ec94fa5b08_14_2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498" name="Google Shape;498;g3ec94fa5b08_14_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g3ec94fa5b08_6_161"/>
          <p:cNvGrpSpPr/>
          <p:nvPr/>
        </p:nvGrpSpPr>
        <p:grpSpPr>
          <a:xfrm>
            <a:off x="509695" y="295975"/>
            <a:ext cx="5914580" cy="622363"/>
            <a:chOff x="956666" y="3447855"/>
            <a:chExt cx="5914580" cy="622363"/>
          </a:xfrm>
        </p:grpSpPr>
        <p:sp>
          <p:nvSpPr>
            <p:cNvPr id="505" name="Google Shape;505;g3ec94fa5b08_6_161"/>
            <p:cNvSpPr txBox="1"/>
            <p:nvPr/>
          </p:nvSpPr>
          <p:spPr>
            <a:xfrm>
              <a:off x="1581046" y="3447855"/>
              <a:ext cx="5290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4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</a:t>
              </a:r>
              <a:r>
                <a:rPr lang="zh-CN" sz="32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資料</a:t>
              </a:r>
              <a:r>
                <a:rPr lang="zh-CN" sz="3000" b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來源</a:t>
              </a:r>
              <a:endParaRPr sz="3400" b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506" name="Google Shape;506;g3ec94fa5b08_6_161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7" name="Google Shape;507;g3ec94fa5b08_6_161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508" name="Google Shape;508;g3ec94fa5b08_6_161"/>
          <p:cNvSpPr txBox="1"/>
          <p:nvPr/>
        </p:nvSpPr>
        <p:spPr>
          <a:xfrm>
            <a:off x="1152200" y="1482125"/>
            <a:ext cx="9281400" cy="48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3328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國立虎尾科技大學 資工系教室借用系統</a:t>
            </a:r>
            <a:endParaRPr sz="3328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328" u="sng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https://csieoffice1.nfu.edu.tw/</a:t>
            </a:r>
            <a:endParaRPr sz="3328" u="sng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3328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逢甲大學體育 室場地借用管理系統.</a:t>
            </a:r>
            <a:r>
              <a:rPr lang="zh-CN" sz="3328">
                <a:solidFill>
                  <a:schemeClr val="dk1"/>
                </a:solidFill>
                <a:uFill>
                  <a:noFill/>
                </a:uFill>
                <a:latin typeface="DFKai-SB"/>
                <a:ea typeface="DFKai-SB"/>
                <a:cs typeface="DFKai-SB"/>
                <a:sym typeface="DFKai-SB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sz="19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328" u="sng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https://share.google/43ZdNW1RVkHCTsGi8</a:t>
            </a:r>
            <a:endParaRPr sz="3328" u="sng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3328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國立清華大學 教室借用系統</a:t>
            </a:r>
            <a:endParaRPr sz="3328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328" u="sng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https://share.google/7nEjYTNkDw13sQput</a:t>
            </a:r>
            <a:endParaRPr sz="3328" u="sng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DFKai-SB"/>
              <a:buChar char="●"/>
            </a:pPr>
            <a:r>
              <a:rPr lang="zh-CN" sz="3328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中原大學教務處 </a:t>
            </a:r>
            <a:r>
              <a:rPr lang="zh-CN" sz="3328">
                <a:solidFill>
                  <a:schemeClr val="dk1"/>
                </a:solidFill>
                <a:uFill>
                  <a:noFill/>
                </a:uFill>
                <a:latin typeface="DFKai-SB"/>
                <a:ea typeface="DFKai-SB"/>
                <a:cs typeface="DFKai-SB"/>
                <a:sym typeface="DFKai-SB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sz="19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328" u="sng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https://share.google/Jgz627iK0832tkNwJ</a:t>
            </a:r>
            <a:endParaRPr sz="29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509" name="Google Shape;509;g3ec94fa5b08_6_1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g3ec94fa5b08_7_9"/>
          <p:cNvGrpSpPr/>
          <p:nvPr/>
        </p:nvGrpSpPr>
        <p:grpSpPr>
          <a:xfrm>
            <a:off x="509695" y="295975"/>
            <a:ext cx="3590666" cy="646290"/>
            <a:chOff x="956666" y="3447855"/>
            <a:chExt cx="3590666" cy="646290"/>
          </a:xfrm>
        </p:grpSpPr>
        <p:sp>
          <p:nvSpPr>
            <p:cNvPr id="516" name="Google Shape;516;g3ec94fa5b08_7_9"/>
            <p:cNvSpPr txBox="1"/>
            <p:nvPr/>
          </p:nvSpPr>
          <p:spPr>
            <a:xfrm>
              <a:off x="1581045" y="3447855"/>
              <a:ext cx="2966287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1">
              <a:sp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600" b="1" dirty="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 Github連結</a:t>
              </a:r>
              <a:endParaRPr sz="4000" b="1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  <p:sp>
          <p:nvSpPr>
            <p:cNvPr id="517" name="Google Shape;517;g3ec94fa5b08_7_9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8" name="Google Shape;518;g3ec94fa5b08_7_9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519" name="Google Shape;519;g3ec94fa5b08_7_9"/>
          <p:cNvSpPr txBox="1"/>
          <p:nvPr/>
        </p:nvSpPr>
        <p:spPr>
          <a:xfrm>
            <a:off x="855775" y="3314525"/>
            <a:ext cx="10326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3200" b="1" u="sng">
                <a:solidFill>
                  <a:srgbClr val="0097A7"/>
                </a:solidFill>
                <a:latin typeface="DFKai-SB"/>
                <a:ea typeface="DFKai-SB"/>
                <a:cs typeface="DFKai-SB"/>
                <a:sym typeface="DFKai-SB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https://github.com/vivian1060290/DB_project_114</a:t>
            </a:r>
            <a:endParaRPr sz="3200" b="1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520" name="Google Shape;520;g3ec94fa5b08_7_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g3ec94fa5b08_14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g3ec94fa5b08_14_24"/>
          <p:cNvSpPr txBox="1"/>
          <p:nvPr/>
        </p:nvSpPr>
        <p:spPr>
          <a:xfrm>
            <a:off x="5764833" y="3103260"/>
            <a:ext cx="55557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700" b="1">
                <a:solidFill>
                  <a:srgbClr val="113F4E"/>
                </a:solidFill>
                <a:latin typeface="DFKai-SB"/>
                <a:ea typeface="DFKai-SB"/>
                <a:cs typeface="DFKai-SB"/>
                <a:sym typeface="DFKai-SB"/>
              </a:rPr>
              <a:t>謝謝大家</a:t>
            </a:r>
            <a:endParaRPr sz="6700" b="1">
              <a:solidFill>
                <a:srgbClr val="113F4E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528" name="Google Shape;528;g3ec94fa5b08_14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>
            <a:off x="355748" y="5986769"/>
            <a:ext cx="645427" cy="19542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ec94fa5b08_14_24"/>
          <p:cNvSpPr txBox="1">
            <a:spLocks noGrp="1"/>
          </p:cNvSpPr>
          <p:nvPr>
            <p:ph type="sldNum" idx="12"/>
          </p:nvPr>
        </p:nvSpPr>
        <p:spPr>
          <a:xfrm>
            <a:off x="11480800" y="8475133"/>
            <a:ext cx="3657600" cy="48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CN"/>
              <a:t>28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千图网拥有20W+精美PPT模板 更多PPT模板下载至：www.58pic.com/office/ppt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2235</Words>
  <Application>Microsoft Office PowerPoint</Application>
  <PresentationFormat>寬螢幕</PresentationFormat>
  <Paragraphs>358</Paragraphs>
  <Slides>28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6" baseType="lpstr">
      <vt:lpstr>Arial</vt:lpstr>
      <vt:lpstr>Times New Roman</vt:lpstr>
      <vt:lpstr>Microsoft Yahei</vt:lpstr>
      <vt:lpstr>DFKai-SB</vt:lpstr>
      <vt:lpstr>Microsoft JhengHei</vt:lpstr>
      <vt:lpstr>Open Sans</vt:lpstr>
      <vt:lpstr>Impact</vt:lpstr>
      <vt:lpstr>千图网拥有20W+精美PPT模板 更多PPT模板下载至：www.58pic.com/office/ppt​​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优品PPT</dc:creator>
  <cp:lastModifiedBy>范芷紜</cp:lastModifiedBy>
  <cp:revision>1</cp:revision>
  <dcterms:created xsi:type="dcterms:W3CDTF">2018-02-23T07:21:57Z</dcterms:created>
  <dcterms:modified xsi:type="dcterms:W3CDTF">2026-06-02T14:01:11Z</dcterms:modified>
</cp:coreProperties>
</file>